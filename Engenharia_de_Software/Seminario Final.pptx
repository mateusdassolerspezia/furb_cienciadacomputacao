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791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B070F-0677-C595-431A-90C2D264A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D9D7B-858D-2EAB-0EB5-73564F0D0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63EA4-36E5-E26D-A0A9-0C58DFE0A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0D137-CBC3-2BCC-1B6F-7DAF31E30D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51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u.furb.br/consulta/portalConsulta/recuperaMfnCompleto.php?menu=rapida&amp;CdMFN=614873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515600" y="4114800"/>
            <a:ext cx="3657600" cy="3657600"/>
          </a:xfrm>
          <a:prstGeom prst="ellipse">
            <a:avLst/>
          </a:prstGeom>
          <a:solidFill>
            <a:srgbClr val="2E86A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F18F01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463040" cy="3657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Configuração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i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Software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arte de identificar, organizar e controlar modificações no software."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Babich [Bab86]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126480"/>
            <a:ext cx="12161520" cy="36576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 •  ENGENHARIA DE SOFTWARE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6263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Pressman — Engenharia de Software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914400"/>
            <a:ext cx="1097280" cy="109728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ADDB93D8-4D22-96C2-1C36-6B6471C86C83}"/>
              </a:ext>
            </a:extLst>
          </p:cNvPr>
          <p:cNvSpPr/>
          <p:nvPr/>
        </p:nvSpPr>
        <p:spPr>
          <a:xfrm>
            <a:off x="731964" y="5776389"/>
            <a:ext cx="4853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Quintino, Gustavo Henrique, Mateus Spezia, Pedro Alegria e Vinícius Oneda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22  |  SEMINÁRIO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capítulo 22 — sete seções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2103120"/>
            <a:ext cx="2697480" cy="178308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2103120"/>
            <a:ext cx="269748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22.1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Configuração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697480" cy="178308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269748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91840" y="2103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22.2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Repositório de SCM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2103120"/>
            <a:ext cx="2697480" cy="178308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172200" y="2103120"/>
            <a:ext cx="269748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172200" y="2103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22.3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7432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Controle de Versão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52560" y="2103120"/>
            <a:ext cx="2697480" cy="178308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69748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052560" y="2103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22.4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35440" y="27432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Contínua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51660" y="4114800"/>
            <a:ext cx="2697480" cy="178308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1851660" y="4114800"/>
            <a:ext cx="269748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851660" y="4114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22.5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34540" y="47548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Gestão de Alterações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32020" y="4114800"/>
            <a:ext cx="2697480" cy="178308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732020" y="4114800"/>
            <a:ext cx="269748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732020" y="4114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22.6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4900" y="47548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e Gestão Ágil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12380" y="4114800"/>
            <a:ext cx="2697480" cy="178308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7612380" y="4114800"/>
            <a:ext cx="269748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612380" y="4114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22.7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95260" y="47548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Configuração de Software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22  |  SEMINÁRIO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  </a:t>
            </a:r>
            <a:r>
              <a:rPr lang="en-US" sz="30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</a:t>
            </a: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Configuração (1/2)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22.1.1 Cenário SCM  •  22.1.2 Elementos do sistema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572000" cy="4297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3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214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22.1.1  Cenário SCM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típica e seus papéis no processo: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273552"/>
            <a:ext cx="292608" cy="292608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868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80160" y="3200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projeto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8016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prazo e qualidade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3959352"/>
            <a:ext cx="292608" cy="292608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6868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80160" y="3886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CM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8016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procedimentos e políticas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4645152"/>
            <a:ext cx="292608" cy="292608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86868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280160" y="4572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Engenheiros de software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8016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eficazmente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68680" y="5330952"/>
            <a:ext cx="292608" cy="292608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868680" y="5330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280160" y="5257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280160" y="5532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 solicita alterações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39496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22.1.2  Elementos de um sistema SCM (Susan Dart [Dar01])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394960" y="2331720"/>
            <a:ext cx="3108960" cy="1874520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5623560" y="265176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788920"/>
            <a:ext cx="502920" cy="5029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58368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6583680" y="30632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de arquivos para os SCIs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8668512" y="2331720"/>
            <a:ext cx="3108960" cy="1874520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29"/>
          <p:cNvSpPr/>
          <p:nvPr/>
        </p:nvSpPr>
        <p:spPr>
          <a:xfrm>
            <a:off x="8897112" y="265176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72" y="2788920"/>
            <a:ext cx="502920" cy="5029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857232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9857232" y="30632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 e tarefas de gestão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5394960" y="4370832"/>
            <a:ext cx="3108960" cy="1874520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3"/>
          <p:cNvSpPr/>
          <p:nvPr/>
        </p:nvSpPr>
        <p:spPr>
          <a:xfrm>
            <a:off x="5623560" y="4690872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4828032"/>
            <a:ext cx="502920" cy="50292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583680" y="46451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</a:t>
            </a:r>
            <a:endParaRPr lang="en-US" sz="1500" dirty="0"/>
          </a:p>
        </p:txBody>
      </p:sp>
      <p:sp>
        <p:nvSpPr>
          <p:cNvPr id="41" name="Text 35"/>
          <p:cNvSpPr/>
          <p:nvPr/>
        </p:nvSpPr>
        <p:spPr>
          <a:xfrm>
            <a:off x="6583680" y="5102352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do build do software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8668512" y="4370832"/>
            <a:ext cx="3108960" cy="1874520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37"/>
          <p:cNvSpPr/>
          <p:nvPr/>
        </p:nvSpPr>
        <p:spPr>
          <a:xfrm>
            <a:off x="8897112" y="4690872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4272" y="4828032"/>
            <a:ext cx="502920" cy="50292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9857232" y="46451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Humanos</a:t>
            </a:r>
            <a:endParaRPr lang="en-US" sz="1500" dirty="0"/>
          </a:p>
        </p:txBody>
      </p:sp>
      <p:sp>
        <p:nvSpPr>
          <p:cNvPr id="46" name="Text 39"/>
          <p:cNvSpPr/>
          <p:nvPr/>
        </p:nvSpPr>
        <p:spPr>
          <a:xfrm>
            <a:off x="9857232" y="5102352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e características de processo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Configuração de Software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22  |  SEMINÁRIO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  </a:t>
            </a:r>
            <a:r>
              <a:rPr lang="en-US" sz="30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</a:t>
            </a: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Configuração (2/2)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22.1.3 Referenciais  •  22.1.4 SCIs  •  22.1.5 Dependências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4297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22.1.3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1732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Referenciais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8803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"Especificação ou produto formalmente revisado, base para mais desenvolvimento."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IEEE [IEE17]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4160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comuns: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" y="4553712"/>
            <a:ext cx="118872" cy="118872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960120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Especificações de sistema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7240" y="4809744"/>
            <a:ext cx="118872" cy="118872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960120" y="47365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software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" y="5065776"/>
            <a:ext cx="118872" cy="118872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960120" y="49926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de projeto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77240" y="5321808"/>
            <a:ext cx="118872" cy="118872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960120" y="52486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77240" y="5577840"/>
            <a:ext cx="118872" cy="118872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960120" y="55046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/ dados de teste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7240" y="5833872"/>
            <a:ext cx="118872" cy="118872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960120" y="57607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operacional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343400" y="1828800"/>
            <a:ext cx="3611880" cy="429768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343400" y="1828800"/>
            <a:ext cx="91440" cy="429768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03120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25780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22.1.4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25780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de Configuração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4617720" y="2880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Configuration Item (SCI) — elemento de informação com nome.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617720" y="3611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617720" y="39319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especificação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nomeado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multimídia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software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8138160" y="1828800"/>
            <a:ext cx="3611880" cy="429768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0"/>
          <p:cNvSpPr/>
          <p:nvPr/>
        </p:nvSpPr>
        <p:spPr>
          <a:xfrm>
            <a:off x="8138160" y="1828800"/>
            <a:ext cx="91440" cy="429768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103120"/>
            <a:ext cx="502920" cy="50292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05256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22.1.5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905256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</a:t>
            </a:r>
            <a:endParaRPr lang="en-US" sz="1700" dirty="0"/>
          </a:p>
        </p:txBody>
      </p:sp>
      <p:sp>
        <p:nvSpPr>
          <p:cNvPr id="38" name="Text 33"/>
          <p:cNvSpPr/>
          <p:nvPr/>
        </p:nvSpPr>
        <p:spPr>
          <a:xfrm>
            <a:off x="8412480" y="2880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rastreabilidade documenta dependências entre requisitos, decisões e defeitos.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8412480" y="3703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impacto: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8412480" y="4023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o impacto de uma alteração proposta e orientar testes de regressão.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8412480" y="4846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impacto [Sou08]: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8412480" y="512064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como as alterações afetam o trabalho da equipe — minimizar impacto sobre colegas.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Configuração de Software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22  |  SEMINÁRIO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  O Repositório de SCM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central que organiza e protege todos os SCIs do projeto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114800" cy="4297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194560"/>
            <a:ext cx="1920240" cy="1920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297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SCM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47548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mecanismos e estruturas de dados que permitem à equipe gerenciar alterações de forma eficaz.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1828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do repositório (Figura 22.4)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937760" y="2286000"/>
            <a:ext cx="3246120" cy="12801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937760" y="2286000"/>
            <a:ext cx="3246120" cy="2926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074920" y="22860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 (business)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74920" y="267004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Regras, funções e estrutura organizacional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321040" y="2286000"/>
            <a:ext cx="3246120" cy="12801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8321040" y="2286000"/>
            <a:ext cx="3246120" cy="2926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458200" y="22860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58200" y="267004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uso, diagramas e modelo de projeto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37760" y="3703320"/>
            <a:ext cx="3246120" cy="12801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4937760" y="3703320"/>
            <a:ext cx="3246120" cy="2926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074920" y="37033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74920" y="408736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Código-fonte, código-objeto e build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321040" y="3703320"/>
            <a:ext cx="3246120" cy="12801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8321040" y="3703320"/>
            <a:ext cx="3246120" cy="2926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8458200" y="37033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&amp; V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58200" y="408736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Casos, scripts, resultados e métricas de teste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937760" y="5120640"/>
            <a:ext cx="3246120" cy="12801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4937760" y="5120640"/>
            <a:ext cx="3246120" cy="2926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5074920" y="5120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Projeto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074920" y="55046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Estimativas, cronogramas e relatórios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321040" y="5120640"/>
            <a:ext cx="3246120" cy="12801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8321040" y="5120640"/>
            <a:ext cx="3246120" cy="2926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8458200" y="5120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458200" y="55046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Planos, especificações e manuais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Configuração de Software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22  |  SEMINÁRIO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  Sistemas de Controle de Versão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Gerenciando diferentes versões dos objetos de configuração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40180" y="2240280"/>
            <a:ext cx="914400" cy="9144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42316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291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de projeto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todos os objetos de configuração relevantes.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192024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320540" y="2240280"/>
            <a:ext cx="914400" cy="9144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24231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3291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61188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versão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1188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todas as versões (ou permite reconstrução via diferenças).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09360" y="192024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7200900" y="2240280"/>
            <a:ext cx="914400" cy="9144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242316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3291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49224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Facilidade de construção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9224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coletar objetos e construir versão específica do software.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189720" y="192024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0"/>
          <p:cNvSpPr/>
          <p:nvPr/>
        </p:nvSpPr>
        <p:spPr>
          <a:xfrm>
            <a:off x="10081260" y="2240280"/>
            <a:ext cx="914400" cy="9144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4140" y="242316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89720" y="3291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937260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tópicos/bugs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37260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 acompanha o status de problemas pendentes.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440680"/>
            <a:ext cx="502920" cy="5029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6304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populares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463040" y="5577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 •  Subversion (SVN)  •  Perforce  —  conjuntos de modificações capturam todas as alterações com motivo, autor e data.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Configuração de Software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22  |  SEMINÁRIO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  Integração Contínua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(CI) — prática essencial do DevOps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91440" cy="9144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574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202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todas as alterações sejam imediatamente integradas ao código-fonte, compiladas e testadas automaticamente.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1577340" y="3200400"/>
            <a:ext cx="640080" cy="640080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33375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acelerado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31520" y="45720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desenvolvedores imediatamente quando a integração falha — consertos ocorrem cedo, com menos alterações envolvidas.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29000" y="29260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4457700" y="3200400"/>
            <a:ext cx="640080" cy="640080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33375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188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qualidade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611880" y="45720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 integrar o software com frequência gera confiança sobre a qualidade do produto desenvolvido.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309360" y="29260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7338060" y="3200400"/>
            <a:ext cx="640080" cy="640080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5220" y="33375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9224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risco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92240" y="45720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antecipada evita o risco de uma fase de integração longa: falhas são descobertas e consertadas antes.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189720" y="29260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10218420" y="3200400"/>
            <a:ext cx="640080" cy="640080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5580" y="33375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37260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Melhores relatórios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9372600" y="45720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adicionais (p.ex., análise de código) permitem contabilidade de status de configuração mais precisa.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Configuração de Software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22  |  SEMINÁRIO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  </a:t>
            </a:r>
            <a:r>
              <a:rPr lang="en-US" sz="30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Gestão de Alterações (1/2)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das 5 tarefas + 22.5.1 Controle de alterações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88720" y="2286000"/>
            <a:ext cx="3840480" cy="3840480"/>
          </a:xfrm>
          <a:prstGeom prst="ellipse">
            <a:avLst/>
          </a:prstGeom>
          <a:solidFill>
            <a:srgbClr val="4FB3B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81328" y="2578608"/>
            <a:ext cx="3255264" cy="3255264"/>
          </a:xfrm>
          <a:prstGeom prst="ellipse">
            <a:avLst/>
          </a:prstGeom>
          <a:solidFill>
            <a:srgbClr val="2E86A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810512" y="2907792"/>
            <a:ext cx="2596896" cy="2596896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148840" y="3246120"/>
            <a:ext cx="1920240" cy="192024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468880" y="3566160"/>
            <a:ext cx="1280160" cy="1280160"/>
          </a:xfrm>
          <a:prstGeom prst="ellipse">
            <a:avLst/>
          </a:prstGeom>
          <a:solidFill>
            <a:srgbClr val="F18F0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761488" y="3858768"/>
            <a:ext cx="694944" cy="694944"/>
          </a:xfrm>
          <a:prstGeom prst="ellipse">
            <a:avLst/>
          </a:prstGeom>
          <a:solidFill>
            <a:srgbClr val="FBC15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743200" y="4023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172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tarefas SCM (Fig. 22.5)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18288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Tarefas SCM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852160" y="2331720"/>
            <a:ext cx="5760720" cy="384048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943600" y="2395728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943600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52160" y="2788920"/>
            <a:ext cx="5760720" cy="384048"/>
          </a:xfrm>
          <a:prstGeom prst="rect">
            <a:avLst/>
          </a:prstGeom>
          <a:solidFill>
            <a:srgbClr val="F18F01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943600" y="2852928"/>
            <a:ext cx="256032" cy="256032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943600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7889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alterações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52160" y="3246120"/>
            <a:ext cx="5760720" cy="384048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5943600" y="3310128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943600" y="3310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2461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versão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52160" y="3703320"/>
            <a:ext cx="5760720" cy="384048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5943600" y="3767328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94360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37033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configuração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52160" y="4160520"/>
            <a:ext cx="5760720" cy="384048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5943600" y="4224528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5943600" y="4224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41605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(CSR)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852160" y="4709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22.5.1  Controle de alterações — Processo (Fig. 22.6)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52160" y="5120640"/>
            <a:ext cx="105156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5852160" y="51206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22592" y="5120640"/>
            <a:ext cx="105156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7022592" y="51206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(CCA)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93024" y="5120640"/>
            <a:ext cx="105156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8193024" y="51206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363456" y="5120640"/>
            <a:ext cx="105156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9363456" y="51206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533888" y="5120640"/>
            <a:ext cx="1051560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10533888" y="51206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52160" y="5989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referencial, alterações passam pela Autoridade de Controle de Alterações (CCA).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Configuração de Software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22  |  SEMINÁRIO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  </a:t>
            </a:r>
            <a:r>
              <a:rPr lang="en-US" sz="30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Gestão de Alterações (2/2)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22.5.2 Gestão de impacto  •  22.5.3 Auditoria  •  22.5.4 Relatório de status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429768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91440" cy="429768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031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22.5.2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46304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Impacto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2880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Teia de interdependências [Sou08] — 3 ações: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3593592"/>
            <a:ext cx="365760" cy="365760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2296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25880" y="35204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25880" y="38130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impacto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4370832"/>
            <a:ext cx="365760" cy="365760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2296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325880" y="42976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Adiante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25880" y="45902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management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5148072"/>
            <a:ext cx="365760" cy="365760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822960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325880" y="50749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Retroativa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25880" y="53675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management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43400" y="1828800"/>
            <a:ext cx="3611880" cy="4297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03120"/>
            <a:ext cx="502920" cy="5029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5780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22.5.3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25780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700" dirty="0"/>
          </a:p>
        </p:txBody>
      </p:sp>
      <p:sp>
        <p:nvSpPr>
          <p:cNvPr id="28" name="Text 24"/>
          <p:cNvSpPr/>
          <p:nvPr/>
        </p:nvSpPr>
        <p:spPr>
          <a:xfrm>
            <a:off x="4617720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 a revisão técnica avaliando aspectos não cobertos.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617720" y="3520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Perguntas-chave:</a:t>
            </a:r>
            <a:endParaRPr lang="en-US" sz="11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877056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93776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feita conforme ECO?</a:t>
            </a:r>
            <a:endParaRPr lang="en-US" sz="11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261104"/>
            <a:ext cx="228600" cy="2286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937760" y="42245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feita revisão técnica?</a:t>
            </a:r>
            <a:endParaRPr lang="en-US" sz="11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645152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937760" y="46085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foram aplicados?</a:t>
            </a:r>
            <a:endParaRPr lang="en-US" sz="11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5029200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937760" y="49926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 autor registrados?</a:t>
            </a:r>
            <a:endParaRPr lang="en-US" sz="11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5413248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937760" y="5376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 relacionados atualizados?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138160" y="1828800"/>
            <a:ext cx="3611880" cy="429768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2"/>
          <p:cNvSpPr/>
          <p:nvPr/>
        </p:nvSpPr>
        <p:spPr>
          <a:xfrm>
            <a:off x="8138160" y="1828800"/>
            <a:ext cx="91440" cy="429768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2103120"/>
            <a:ext cx="502920" cy="50292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05256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22.5.4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905256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Status</a:t>
            </a:r>
            <a:endParaRPr lang="en-US" sz="1700" dirty="0"/>
          </a:p>
        </p:txBody>
      </p:sp>
      <p:sp>
        <p:nvSpPr>
          <p:cNvPr id="45" name="Text 35"/>
          <p:cNvSpPr/>
          <p:nvPr/>
        </p:nvSpPr>
        <p:spPr>
          <a:xfrm>
            <a:off x="8412480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Status Reporting (CSR) — contabilidade de status.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8412480" y="3520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4 perguntas: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8412480" y="3931920"/>
            <a:ext cx="411480" cy="38404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38"/>
          <p:cNvSpPr/>
          <p:nvPr/>
        </p:nvSpPr>
        <p:spPr>
          <a:xfrm>
            <a:off x="8412480" y="39319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9" name="Text 39"/>
          <p:cNvSpPr/>
          <p:nvPr/>
        </p:nvSpPr>
        <p:spPr>
          <a:xfrm>
            <a:off x="8915400" y="3931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aconteceu?</a:t>
            </a:r>
            <a:endParaRPr lang="en-US" sz="1200" dirty="0"/>
          </a:p>
        </p:txBody>
      </p:sp>
      <p:sp>
        <p:nvSpPr>
          <p:cNvPr id="50" name="Shape 40"/>
          <p:cNvSpPr/>
          <p:nvPr/>
        </p:nvSpPr>
        <p:spPr>
          <a:xfrm>
            <a:off x="8412480" y="4434840"/>
            <a:ext cx="411480" cy="38404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1"/>
          <p:cNvSpPr/>
          <p:nvPr/>
        </p:nvSpPr>
        <p:spPr>
          <a:xfrm>
            <a:off x="8412480" y="44348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52" name="Text 42"/>
          <p:cNvSpPr/>
          <p:nvPr/>
        </p:nvSpPr>
        <p:spPr>
          <a:xfrm>
            <a:off x="8915400" y="4434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fez?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8412480" y="4937760"/>
            <a:ext cx="411480" cy="38404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44"/>
          <p:cNvSpPr/>
          <p:nvPr/>
        </p:nvSpPr>
        <p:spPr>
          <a:xfrm>
            <a:off x="8412480" y="49377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5" name="Text 45"/>
          <p:cNvSpPr/>
          <p:nvPr/>
        </p:nvSpPr>
        <p:spPr>
          <a:xfrm>
            <a:off x="8915400" y="4937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aconteceu?</a:t>
            </a:r>
            <a:endParaRPr lang="en-US" sz="1200" dirty="0"/>
          </a:p>
        </p:txBody>
      </p:sp>
      <p:sp>
        <p:nvSpPr>
          <p:cNvPr id="56" name="Shape 46"/>
          <p:cNvSpPr/>
          <p:nvPr/>
        </p:nvSpPr>
        <p:spPr>
          <a:xfrm>
            <a:off x="8412480" y="5440680"/>
            <a:ext cx="411480" cy="38404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47"/>
          <p:cNvSpPr/>
          <p:nvPr/>
        </p:nvSpPr>
        <p:spPr>
          <a:xfrm>
            <a:off x="8412480" y="54406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58" name="Text 48"/>
          <p:cNvSpPr/>
          <p:nvPr/>
        </p:nvSpPr>
        <p:spPr>
          <a:xfrm>
            <a:off x="8915400" y="5440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mais será afetado?</a:t>
            </a:r>
            <a:endParaRPr lang="en-US" sz="1200" dirty="0"/>
          </a:p>
        </p:txBody>
      </p:sp>
      <p:sp>
        <p:nvSpPr>
          <p:cNvPr id="59" name="Text 4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Configuração de Software</a:t>
            </a:r>
            <a:endParaRPr lang="en-US" sz="900" dirty="0"/>
          </a:p>
        </p:txBody>
      </p:sp>
      <p:sp>
        <p:nvSpPr>
          <p:cNvPr id="60" name="Text 50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22  |  SEMINÁRIO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  </a:t>
            </a:r>
            <a:r>
              <a:rPr lang="en-US" sz="30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</a:t>
            </a: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Gestão Ágil (1/2)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22.6.1 Controle eletrônico de alterações  •  22.6.2 Gestão de conteúdo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777240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91440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28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WebApps/Mobile e jogos, alterações são onipresentes. A filosofia "codifique e vá em frente" exige adaptar o controle ao impacto.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22.6.1  Quatro classes de alteração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6400800" cy="658368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48640" y="3200400"/>
            <a:ext cx="640080" cy="658368"/>
          </a:xfrm>
          <a:prstGeom prst="rect">
            <a:avLst/>
          </a:prstGeom>
          <a:solidFill>
            <a:srgbClr val="4FB3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48640" y="320040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371600" y="325526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71600" y="354787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erro / melhora algo local — informal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959352"/>
            <a:ext cx="6400800" cy="658368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48640" y="3959352"/>
            <a:ext cx="640080" cy="658368"/>
          </a:xfrm>
          <a:prstGeom prst="rect">
            <a:avLst/>
          </a:prstGeom>
          <a:solidFill>
            <a:srgbClr val="4FB3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48640" y="395935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371600" y="401421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Inter-objeto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71600" y="43068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 outros objetos — revisar relacionados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4718304"/>
            <a:ext cx="6400800" cy="658368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548640" y="4718304"/>
            <a:ext cx="640080" cy="65836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48640" y="471830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371600" y="47731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Amplo impacto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371600" y="506577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 principal — revisão pela equipe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477256"/>
            <a:ext cx="6400800" cy="658368"/>
          </a:xfrm>
          <a:prstGeom prst="rect">
            <a:avLst/>
          </a:prstGeom>
          <a:solidFill>
            <a:srgbClr val="F4F7FB"/>
          </a:solidFill>
          <a:ln w="635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548640" y="5477256"/>
            <a:ext cx="640080" cy="6583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548640" y="547725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1371600" y="55321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371600" y="582472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interface/navegação — todos revisam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2743200"/>
            <a:ext cx="4480560" cy="34747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971800"/>
            <a:ext cx="457200" cy="4572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95528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22.6.2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79552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Conteúdo (CMS)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7406640" y="3703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que adquire, estrutura e entrega conteúdo dinâmico para o usuário.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7406640" y="44348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Comum em jogos e aplicativos que carregam conteúdo do servidor para o cliente sob demanda.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7406640" y="53492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loja iTunes — banco consulta dados do artista, monta página e entrega ao cliente.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Configuração de Software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22  |  SEMINÁRIO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  </a:t>
            </a:r>
            <a:r>
              <a:rPr lang="en-US" sz="30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</a:t>
            </a: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Gestão Ágil (2/2)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22.6.3 Integração e publicação  •  22.6.4 Controle de versão  •  22.6.5 Auditoria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22.6.3  Três subsistemas integrados [Boi04]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611880" cy="1691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777240" cy="777240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432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37360" y="3017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Cria/adquire conteúdo e converte para linguagem de marcação (HTML, XML).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2286000"/>
            <a:ext cx="3611880" cy="1691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572000" y="2606040"/>
            <a:ext cx="777240" cy="777240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7432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532120" y="3017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Armazena, cataloga e controla status. Implementa o repositório de configuração.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38160" y="2286000"/>
            <a:ext cx="3611880" cy="16916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8366760" y="2606040"/>
            <a:ext cx="777240" cy="777240"/>
          </a:xfrm>
          <a:prstGeom prst="ellipse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7432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2688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326880" y="3017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 do repositório e formata para entrega ao cliente via modelos.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297680"/>
            <a:ext cx="5486400" cy="192024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548640" y="4297680"/>
            <a:ext cx="91440" cy="1920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52628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4507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22.6.4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371600" y="4709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Versão (ágil)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77240" y="512064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central para o projeto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dev tem pasta de trabalho própria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Check-in/check-out via ferramenta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Relógios sincronizados (evitar conflitos)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126480" y="4297680"/>
            <a:ext cx="5486400" cy="192024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6126480" y="4297680"/>
            <a:ext cx="91440" cy="1920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452628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49440" y="4507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22.6.5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94944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e Relatório (ágil)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6355080" y="512064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enfatizadas durante o desenvolvimento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Check-in/check-out registrados em log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completo sob demanda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por e-mail aos envolvidos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Configuração de Software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22  |  SEMINÁRIO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  Resumo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dos principais conceitos do capítulo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00" cy="210312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91440" cy="2103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68680" y="237744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5603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 apoio contínua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743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identifica, controla, audita e relata modificações ao longo de todo o ciclo de vida do software.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920240"/>
            <a:ext cx="5486400" cy="210312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217920" y="1920240"/>
            <a:ext cx="91440" cy="2103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537960" y="237744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5603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43800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inter-relacionada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543800" y="2743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Composta por SCIs produzidos por atividades de engenharia, armazenados em repositório com integridade e versionamento.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206240"/>
            <a:ext cx="5486400" cy="210312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548640" y="4206240"/>
            <a:ext cx="91440" cy="2103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868680" y="466344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8463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74520" y="4526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Referenciais e evolução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874520" y="5029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 aprovada, uma versão se torna referência (baseline). Alterações geram novas versões controladas formalmente.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17920" y="4206240"/>
            <a:ext cx="5486400" cy="2103120"/>
          </a:xfrm>
          <a:prstGeom prst="rect">
            <a:avLst/>
          </a:prstGeom>
          <a:solidFill>
            <a:srgbClr val="F4F7FB"/>
          </a:solidFill>
          <a:ln w="9525">
            <a:solidFill>
              <a:srgbClr val="DDE5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0"/>
          <p:cNvSpPr/>
          <p:nvPr/>
        </p:nvSpPr>
        <p:spPr>
          <a:xfrm>
            <a:off x="6217920" y="4206240"/>
            <a:ext cx="91440" cy="2103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1"/>
          <p:cNvSpPr/>
          <p:nvPr/>
        </p:nvSpPr>
        <p:spPr>
          <a:xfrm>
            <a:off x="6537960" y="466344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84632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43800" y="4526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Adaptável ao contexto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7543800" y="5029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para WebApps/jogos é mais ágil que o convencional, mas mantém os mesmos princípios essenciais.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Configuração de Software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45300-16D3-ECD0-3BCB-8B02C62A6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18AA10-5804-57F7-C532-7767FA2EC509}"/>
              </a:ext>
            </a:extLst>
          </p:cNvPr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22  |  SEMINÁRIO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1603DD-B4DB-1B58-768D-7E392DDE3373}"/>
              </a:ext>
            </a:extLst>
          </p:cNvPr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C1F313-C356-C1A4-0D73-EE44AE11FF70}"/>
              </a:ext>
            </a:extLst>
          </p:cNvPr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ao autor do livro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43330E4-C4B7-607E-CA0E-B9C811CA0207}"/>
              </a:ext>
            </a:extLst>
          </p:cNvPr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A32909F-C223-6D0D-2EF5-C600E0473B7C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Configuração de Software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F15E28B-0752-BD14-CBD3-E31B5732D69F}"/>
              </a:ext>
            </a:extLst>
          </p:cNvPr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8A882465-3595-B597-01F8-F19B80733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497" y="652872"/>
            <a:ext cx="4019006" cy="5227847"/>
          </a:xfrm>
          <a:prstGeom prst="rect">
            <a:avLst/>
          </a:prstGeom>
        </p:spPr>
      </p:pic>
      <p:sp>
        <p:nvSpPr>
          <p:cNvPr id="40" name="CaixaDeTexto 39">
            <a:extLst>
              <a:ext uri="{FF2B5EF4-FFF2-40B4-BE49-F238E27FC236}">
                <a16:creationId xmlns:a16="http://schemas.microsoft.com/office/drawing/2014/main" id="{D28F467E-C8E9-82E7-B1D8-013C08B8A4AC}"/>
              </a:ext>
            </a:extLst>
          </p:cNvPr>
          <p:cNvSpPr txBox="1"/>
          <p:nvPr/>
        </p:nvSpPr>
        <p:spPr>
          <a:xfrm>
            <a:off x="4463759" y="5880719"/>
            <a:ext cx="3400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hlinkClick r:id="rId4"/>
              </a:rPr>
              <a:t>https://bu.furb.br/consulta/portalConsulta/recuperaMfnCompleto.php?menu=rapida&amp;CdMFN=614873</a:t>
            </a:r>
            <a:r>
              <a:rPr lang="pt-B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9220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E86A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686800" y="457200"/>
            <a:ext cx="2743200" cy="2743200"/>
          </a:xfrm>
          <a:prstGeom prst="ellipse">
            <a:avLst/>
          </a:prstGeom>
          <a:solidFill>
            <a:srgbClr val="F18F01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011680" cy="3657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SEMINÁRIO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i="1" dirty="0">
                <a:solidFill>
                  <a:srgbClr val="FBC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731520" y="4572000"/>
            <a:ext cx="457200" cy="548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gestão de configuração é a arte de identificar, organizar e controlar modificações."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Babich [Bab86]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6172200"/>
            <a:ext cx="12161520" cy="36576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5508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8720" y="6355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— Capítulo 22  •  Engenharia de Software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1423</Words>
  <Application>Microsoft Office PowerPoint</Application>
  <PresentationFormat>Widescreen</PresentationFormat>
  <Paragraphs>291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de Configuração de Software</dc:title>
  <dc:subject>PptxGenJS Presentation</dc:subject>
  <dc:creator>Seminário SCM</dc:creator>
  <cp:lastModifiedBy>Mateus Dassoler Spezia</cp:lastModifiedBy>
  <cp:revision>3</cp:revision>
  <dcterms:created xsi:type="dcterms:W3CDTF">2026-06-03T18:52:10Z</dcterms:created>
  <dcterms:modified xsi:type="dcterms:W3CDTF">2026-06-09T11:50:56Z</dcterms:modified>
</cp:coreProperties>
</file>