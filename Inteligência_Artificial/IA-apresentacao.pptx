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b1_0"/>
          <p:cNvSpPr txBox="1"/>
          <p:nvPr/>
        </p:nvSpPr>
        <p:spPr>
          <a:xfrm>
            <a:off x="1005840" y="65836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260">
                <a:solidFill>
                  <a:srgbClr val="CDFF4F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4" name="b1_1"/>
          <p:cNvSpPr txBox="1"/>
          <p:nvPr/>
        </p:nvSpPr>
        <p:spPr>
          <a:xfrm>
            <a:off x="1005840" y="1874519"/>
            <a:ext cx="9601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0" i="0">
                <a:solidFill>
                  <a:srgbClr val="EDF1F3"/>
                </a:solidFill>
                <a:latin typeface="Bahnschrift SemiBold"/>
              </a:rPr>
              <a:t>Atividades
de sala de aula</a:t>
            </a:r>
          </a:p>
        </p:txBody>
      </p:sp>
      <p:sp>
        <p:nvSpPr>
          <p:cNvPr id="5" name="b2_0"/>
          <p:cNvSpPr/>
          <p:nvPr/>
        </p:nvSpPr>
        <p:spPr>
          <a:xfrm>
            <a:off x="1005840" y="3767328"/>
            <a:ext cx="1371600" cy="4572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2_0"/>
          <p:cNvSpPr txBox="1"/>
          <p:nvPr/>
        </p:nvSpPr>
        <p:spPr>
          <a:xfrm>
            <a:off x="1005840" y="4041648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99A4AD"/>
                </a:solidFill>
                <a:latin typeface="Segoe UI"/>
              </a:rPr>
              <a:t>Questão 1  ·  o que é Inteligência Artificial</a:t>
            </a:r>
          </a:p>
          <a:p>
            <a:pPr algn="l"/>
            <a:r>
              <a:rPr sz="1300" b="0" i="0">
                <a:solidFill>
                  <a:srgbClr val="99A4AD"/>
                </a:solidFill>
                <a:latin typeface="Segoe UI"/>
              </a:rPr>
              <a:t>Questão 2  ·  dez tarefas: o que o computador já resolve, o que falta e quando cai</a:t>
            </a:r>
          </a:p>
        </p:txBody>
      </p:sp>
      <p:sp>
        <p:nvSpPr>
          <p:cNvPr id="7" name="b3_0"/>
          <p:cNvSpPr/>
          <p:nvPr/>
        </p:nvSpPr>
        <p:spPr>
          <a:xfrm>
            <a:off x="8842248" y="5504688"/>
            <a:ext cx="182880" cy="182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3_0"/>
          <p:cNvSpPr/>
          <p:nvPr/>
        </p:nvSpPr>
        <p:spPr>
          <a:xfrm>
            <a:off x="9107424" y="5504688"/>
            <a:ext cx="182880" cy="182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3_0"/>
          <p:cNvSpPr/>
          <p:nvPr/>
        </p:nvSpPr>
        <p:spPr>
          <a:xfrm>
            <a:off x="9372600" y="5504688"/>
            <a:ext cx="182880" cy="182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3_0"/>
          <p:cNvSpPr/>
          <p:nvPr/>
        </p:nvSpPr>
        <p:spPr>
          <a:xfrm>
            <a:off x="9637776" y="5504688"/>
            <a:ext cx="182880" cy="18288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3_0"/>
          <p:cNvSpPr/>
          <p:nvPr/>
        </p:nvSpPr>
        <p:spPr>
          <a:xfrm>
            <a:off x="9902952" y="5504688"/>
            <a:ext cx="182880" cy="182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3_0"/>
          <p:cNvSpPr/>
          <p:nvPr/>
        </p:nvSpPr>
        <p:spPr>
          <a:xfrm>
            <a:off x="10168128" y="5504688"/>
            <a:ext cx="182880" cy="182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/>
          <p:nvPr/>
        </p:nvSpPr>
        <p:spPr>
          <a:xfrm>
            <a:off x="10433304" y="5504688"/>
            <a:ext cx="182880" cy="182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3_0"/>
          <p:cNvSpPr/>
          <p:nvPr/>
        </p:nvSpPr>
        <p:spPr>
          <a:xfrm>
            <a:off x="10698480" y="5504688"/>
            <a:ext cx="182880" cy="18288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3_0"/>
          <p:cNvSpPr/>
          <p:nvPr/>
        </p:nvSpPr>
        <p:spPr>
          <a:xfrm>
            <a:off x="10963656" y="5504688"/>
            <a:ext cx="182880" cy="182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3_0"/>
          <p:cNvSpPr/>
          <p:nvPr/>
        </p:nvSpPr>
        <p:spPr>
          <a:xfrm>
            <a:off x="11228832" y="5504688"/>
            <a:ext cx="182880" cy="182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3_0"/>
          <p:cNvSpPr txBox="1"/>
          <p:nvPr/>
        </p:nvSpPr>
        <p:spPr>
          <a:xfrm>
            <a:off x="1005840" y="54681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EDF1F3"/>
                </a:solidFill>
                <a:latin typeface="Bahnschrift SemiBold"/>
              </a:rPr>
              <a:t>Pedro Alegria Fiamoncini · Mateus Spezia · Vinicius Oneda · Arthur Quintino</a:t>
            </a:r>
          </a:p>
        </p:txBody>
      </p:sp>
      <p:sp>
        <p:nvSpPr>
          <p:cNvPr id="18" name="b3_0"/>
          <p:cNvSpPr txBox="1"/>
          <p:nvPr/>
        </p:nvSpPr>
        <p:spPr>
          <a:xfrm>
            <a:off x="1005840" y="583387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5F6A73"/>
                </a:solidFill>
                <a:latin typeface="Consolas"/>
              </a:rPr>
              <a:t>21 DE AGOSTO DE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5815584"/>
            <a:ext cx="257220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40">
                <a:solidFill>
                  <a:srgbClr val="5F6A73"/>
                </a:solidFill>
                <a:latin typeface="Consolas"/>
              </a:rPr>
              <a:t>DEZ TAREFAS · 4 · 4 ·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6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6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6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6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6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6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6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6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6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6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6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6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6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" accel="100000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Roteiro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/>
          <p:nvPr/>
        </p:nvSpPr>
        <p:spPr>
          <a:xfrm>
            <a:off x="777240" y="1965960"/>
            <a:ext cx="3362858" cy="27432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_0"/>
          <p:cNvSpPr txBox="1"/>
          <p:nvPr/>
        </p:nvSpPr>
        <p:spPr>
          <a:xfrm>
            <a:off x="777240" y="221284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CDFF4F"/>
                </a:solidFill>
                <a:latin typeface="Consolas"/>
              </a:rPr>
              <a:t>01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971800"/>
            <a:ext cx="30885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EDF1F3"/>
                </a:solidFill>
                <a:latin typeface="Bahnschrift SemiBold"/>
              </a:rPr>
              <a:t>Definição</a:t>
            </a:r>
          </a:p>
        </p:txBody>
      </p:sp>
      <p:sp>
        <p:nvSpPr>
          <p:cNvPr id="8" name="b1_0"/>
          <p:cNvSpPr txBox="1"/>
          <p:nvPr/>
        </p:nvSpPr>
        <p:spPr>
          <a:xfrm>
            <a:off x="777240" y="3401568"/>
            <a:ext cx="290565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9A4AD"/>
                </a:solidFill>
                <a:latin typeface="Segoe UI"/>
              </a:rPr>
              <a:t>O que é Inteligência Artificial e onde a definição se encaixa nas quatro abordagens clássicas da área.</a:t>
            </a:r>
          </a:p>
        </p:txBody>
      </p:sp>
      <p:sp>
        <p:nvSpPr>
          <p:cNvPr id="9" name="b1_1"/>
          <p:cNvSpPr/>
          <p:nvPr/>
        </p:nvSpPr>
        <p:spPr>
          <a:xfrm>
            <a:off x="4414418" y="1965960"/>
            <a:ext cx="3362858" cy="27432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1_1"/>
          <p:cNvSpPr txBox="1"/>
          <p:nvPr/>
        </p:nvSpPr>
        <p:spPr>
          <a:xfrm>
            <a:off x="4414418" y="221284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CDFF4F"/>
                </a:solidFill>
                <a:latin typeface="Consolas"/>
              </a:rPr>
              <a:t>02</a:t>
            </a:r>
          </a:p>
        </p:txBody>
      </p:sp>
      <p:sp>
        <p:nvSpPr>
          <p:cNvPr id="11" name="b1_1"/>
          <p:cNvSpPr txBox="1"/>
          <p:nvPr/>
        </p:nvSpPr>
        <p:spPr>
          <a:xfrm>
            <a:off x="4414418" y="2971800"/>
            <a:ext cx="30885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EDF1F3"/>
                </a:solidFill>
                <a:latin typeface="Bahnschrift SemiBold"/>
              </a:rPr>
              <a:t>Dez tarefas</a:t>
            </a:r>
          </a:p>
        </p:txBody>
      </p:sp>
      <p:sp>
        <p:nvSpPr>
          <p:cNvPr id="12" name="b1_1"/>
          <p:cNvSpPr txBox="1"/>
          <p:nvPr/>
        </p:nvSpPr>
        <p:spPr>
          <a:xfrm>
            <a:off x="4414418" y="3401568"/>
            <a:ext cx="290565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9A4AD"/>
                </a:solidFill>
                <a:latin typeface="Segoe UI"/>
              </a:rPr>
              <a:t>Uma a uma: estado da arte em 2026, dificuldades que ainda travam e previsão de superação.</a:t>
            </a:r>
          </a:p>
        </p:txBody>
      </p:sp>
      <p:sp>
        <p:nvSpPr>
          <p:cNvPr id="13" name="b1_2"/>
          <p:cNvSpPr/>
          <p:nvPr/>
        </p:nvSpPr>
        <p:spPr>
          <a:xfrm>
            <a:off x="8051596" y="1965960"/>
            <a:ext cx="3362858" cy="27432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1_2"/>
          <p:cNvSpPr txBox="1"/>
          <p:nvPr/>
        </p:nvSpPr>
        <p:spPr>
          <a:xfrm>
            <a:off x="8051596" y="221284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CDFF4F"/>
                </a:solidFill>
                <a:latin typeface="Consolas"/>
              </a:rPr>
              <a:t>03</a:t>
            </a:r>
          </a:p>
        </p:txBody>
      </p:sp>
      <p:sp>
        <p:nvSpPr>
          <p:cNvPr id="15" name="b1_2"/>
          <p:cNvSpPr txBox="1"/>
          <p:nvPr/>
        </p:nvSpPr>
        <p:spPr>
          <a:xfrm>
            <a:off x="8051596" y="2971800"/>
            <a:ext cx="30885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EDF1F3"/>
                </a:solidFill>
                <a:latin typeface="Bahnschrift SemiBold"/>
              </a:rPr>
              <a:t>Síntese</a:t>
            </a:r>
          </a:p>
        </p:txBody>
      </p:sp>
      <p:sp>
        <p:nvSpPr>
          <p:cNvPr id="16" name="b1_2"/>
          <p:cNvSpPr txBox="1"/>
          <p:nvPr/>
        </p:nvSpPr>
        <p:spPr>
          <a:xfrm>
            <a:off x="8051596" y="3401568"/>
            <a:ext cx="290565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9A4AD"/>
                </a:solidFill>
                <a:latin typeface="Segoe UI"/>
              </a:rPr>
              <a:t>O que separa hoje o resolvido do não resolvido, e por que a fronteira mudou de lugar.</a:t>
            </a:r>
          </a:p>
        </p:txBody>
      </p:sp>
      <p:sp>
        <p:nvSpPr>
          <p:cNvPr id="17" name="b2_0"/>
          <p:cNvSpPr txBox="1"/>
          <p:nvPr/>
        </p:nvSpPr>
        <p:spPr>
          <a:xfrm>
            <a:off x="777240" y="5212080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20">
                <a:solidFill>
                  <a:srgbClr val="5F6A73"/>
                </a:solidFill>
                <a:latin typeface="Consolas"/>
              </a:rPr>
              <a:t>FONTES: NATURE · SCIENCE ROBOTICS · PNAS · ARXIV · RELATÓRIOS DOS LABORATÓRIOS · REGULAÇÃO BRASILEIRA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02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0" y="1463040"/>
            <a:ext cx="2377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0" b="0" i="0">
                <a:solidFill>
                  <a:srgbClr val="1B2218"/>
                </a:solidFill>
                <a:latin typeface="Consolas"/>
              </a:rPr>
              <a:t>01</a:t>
            </a:r>
          </a:p>
        </p:txBody>
      </p:sp>
      <p:sp>
        <p:nvSpPr>
          <p:cNvPr id="4" name="b1_0"/>
          <p:cNvSpPr txBox="1"/>
          <p:nvPr/>
        </p:nvSpPr>
        <p:spPr>
          <a:xfrm>
            <a:off x="10058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260">
                <a:solidFill>
                  <a:srgbClr val="CDFF4F"/>
                </a:solidFill>
                <a:latin typeface="Consolas"/>
              </a:rPr>
              <a:t>QUESTÃO 1</a:t>
            </a:r>
          </a:p>
        </p:txBody>
      </p:sp>
      <p:sp>
        <p:nvSpPr>
          <p:cNvPr id="5" name="b1_1"/>
          <p:cNvSpPr txBox="1"/>
          <p:nvPr/>
        </p:nvSpPr>
        <p:spPr>
          <a:xfrm>
            <a:off x="1005840" y="3154680"/>
            <a:ext cx="8412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0">
                <a:solidFill>
                  <a:srgbClr val="EDF1F3"/>
                </a:solidFill>
                <a:latin typeface="Bahnschrift SemiBold"/>
              </a:rPr>
              <a:t>Defina com suas palavras o que é
Inteligência Artificial</a:t>
            </a:r>
          </a:p>
        </p:txBody>
      </p:sp>
      <p:sp>
        <p:nvSpPr>
          <p:cNvPr id="6" name="b1_1"/>
          <p:cNvSpPr/>
          <p:nvPr/>
        </p:nvSpPr>
        <p:spPr>
          <a:xfrm>
            <a:off x="1005840" y="4709160"/>
            <a:ext cx="1097280" cy="4572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QUESTÃO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Definição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/>
          <p:nvPr/>
        </p:nvSpPr>
        <p:spPr>
          <a:xfrm>
            <a:off x="777240" y="1783080"/>
            <a:ext cx="45720" cy="210312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_1"/>
          <p:cNvSpPr txBox="1"/>
          <p:nvPr/>
        </p:nvSpPr>
        <p:spPr>
          <a:xfrm>
            <a:off x="1188720" y="1828800"/>
            <a:ext cx="981425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EDF1F3"/>
                </a:solidFill>
                <a:latin typeface="Bahnschrift SemiBold"/>
              </a:rPr>
              <a:t>A Inteligência Artificial é uma tecnologia capaz de simular algumas habilidades humanas, como pensar, aprender e resolver problemas. Ela utiliza técnicas como as redes neurais para processar e interpretar dados. Com isso, pode tomar decisões de forma autônoma e auxiliar em tarefas do cotidiano e do ambiente profissional.</a:t>
            </a:r>
          </a:p>
        </p:txBody>
      </p:sp>
      <p:sp>
        <p:nvSpPr>
          <p:cNvPr id="7" name="b2_0"/>
          <p:cNvSpPr/>
          <p:nvPr/>
        </p:nvSpPr>
        <p:spPr>
          <a:xfrm>
            <a:off x="777240" y="4434840"/>
            <a:ext cx="3332378" cy="18288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2_0"/>
          <p:cNvSpPr txBox="1"/>
          <p:nvPr/>
        </p:nvSpPr>
        <p:spPr>
          <a:xfrm>
            <a:off x="777240" y="4617720"/>
            <a:ext cx="33323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CDFF4F"/>
                </a:solidFill>
                <a:latin typeface="Consolas"/>
              </a:rPr>
              <a:t>OBJETIVO</a:t>
            </a:r>
          </a:p>
        </p:txBody>
      </p:sp>
      <p:sp>
        <p:nvSpPr>
          <p:cNvPr id="9" name="b2_0"/>
          <p:cNvSpPr txBox="1"/>
          <p:nvPr/>
        </p:nvSpPr>
        <p:spPr>
          <a:xfrm>
            <a:off x="777240" y="4937760"/>
            <a:ext cx="33323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Simular habilidades associadas à inteligência humana: raciocinar, aprender com a experiência e resolver problemas.</a:t>
            </a:r>
          </a:p>
        </p:txBody>
      </p:sp>
      <p:sp>
        <p:nvSpPr>
          <p:cNvPr id="10" name="b2_1"/>
          <p:cNvSpPr/>
          <p:nvPr/>
        </p:nvSpPr>
        <p:spPr>
          <a:xfrm>
            <a:off x="4429658" y="4434840"/>
            <a:ext cx="3332378" cy="18288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2_1"/>
          <p:cNvSpPr txBox="1"/>
          <p:nvPr/>
        </p:nvSpPr>
        <p:spPr>
          <a:xfrm>
            <a:off x="4429658" y="4617720"/>
            <a:ext cx="33323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CDFF4F"/>
                </a:solidFill>
                <a:latin typeface="Consolas"/>
              </a:rPr>
              <a:t>MEIO</a:t>
            </a:r>
          </a:p>
        </p:txBody>
      </p:sp>
      <p:sp>
        <p:nvSpPr>
          <p:cNvPr id="12" name="b2_1"/>
          <p:cNvSpPr txBox="1"/>
          <p:nvPr/>
        </p:nvSpPr>
        <p:spPr>
          <a:xfrm>
            <a:off x="4429658" y="4937760"/>
            <a:ext cx="33323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Técnicas de aprendizado de máquina, entre elas as redes neurais, que extraem padrões de grandes volumes de dados.</a:t>
            </a:r>
          </a:p>
        </p:txBody>
      </p:sp>
      <p:sp>
        <p:nvSpPr>
          <p:cNvPr id="13" name="b2_2"/>
          <p:cNvSpPr/>
          <p:nvPr/>
        </p:nvSpPr>
        <p:spPr>
          <a:xfrm>
            <a:off x="8082076" y="4434840"/>
            <a:ext cx="3332378" cy="18288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2_2"/>
          <p:cNvSpPr txBox="1"/>
          <p:nvPr/>
        </p:nvSpPr>
        <p:spPr>
          <a:xfrm>
            <a:off x="8082076" y="4617720"/>
            <a:ext cx="333237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CDFF4F"/>
                </a:solidFill>
                <a:latin typeface="Consolas"/>
              </a:rPr>
              <a:t>RESULTADO</a:t>
            </a:r>
          </a:p>
        </p:txBody>
      </p:sp>
      <p:sp>
        <p:nvSpPr>
          <p:cNvPr id="15" name="b2_2"/>
          <p:cNvSpPr txBox="1"/>
          <p:nvPr/>
        </p:nvSpPr>
        <p:spPr>
          <a:xfrm>
            <a:off x="8082076" y="4937760"/>
            <a:ext cx="333237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Decidir com algum grau de autonomia e apoiar tarefas do cotidiano e do ambiente profissional.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04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QUESTÃO 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As quatro maneiras de definir a área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 txBox="1"/>
          <p:nvPr/>
        </p:nvSpPr>
        <p:spPr>
          <a:xfrm>
            <a:off x="2788920" y="1783080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CDFF4F"/>
                </a:solidFill>
                <a:latin typeface="Consolas"/>
              </a:rPr>
              <a:t>COMO O SER HUMANO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086600" y="1783080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RACIONALMENTE</a:t>
            </a:r>
          </a:p>
        </p:txBody>
      </p:sp>
      <p:sp>
        <p:nvSpPr>
          <p:cNvPr id="7" name="b2_0"/>
          <p:cNvSpPr txBox="1"/>
          <p:nvPr/>
        </p:nvSpPr>
        <p:spPr>
          <a:xfrm>
            <a:off x="777240" y="26060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DF1F3"/>
                </a:solidFill>
                <a:latin typeface="Bahnschrift SemiBold"/>
              </a:rPr>
              <a:t>Pensar</a:t>
            </a:r>
          </a:p>
        </p:txBody>
      </p:sp>
      <p:sp>
        <p:nvSpPr>
          <p:cNvPr id="8" name="b2_0"/>
          <p:cNvSpPr/>
          <p:nvPr/>
        </p:nvSpPr>
        <p:spPr>
          <a:xfrm>
            <a:off x="2788920" y="2194560"/>
            <a:ext cx="3977639" cy="1280160"/>
          </a:xfrm>
          <a:prstGeom prst="rect">
            <a:avLst/>
          </a:prstGeom>
          <a:solidFill>
            <a:srgbClr val="19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2788920" y="2194560"/>
            <a:ext cx="3977639" cy="36576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3081527" y="2560320"/>
            <a:ext cx="33924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DF1F3"/>
                </a:solidFill>
                <a:latin typeface="Segoe UI"/>
              </a:rPr>
              <a:t>Modelar o raciocínio humano, com apoio da ciência cognitiva.</a:t>
            </a:r>
          </a:p>
        </p:txBody>
      </p:sp>
      <p:sp>
        <p:nvSpPr>
          <p:cNvPr id="11" name="b2_0"/>
          <p:cNvSpPr/>
          <p:nvPr/>
        </p:nvSpPr>
        <p:spPr>
          <a:xfrm>
            <a:off x="7086600" y="2194560"/>
            <a:ext cx="3977639" cy="128016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2_0"/>
          <p:cNvSpPr/>
          <p:nvPr/>
        </p:nvSpPr>
        <p:spPr>
          <a:xfrm>
            <a:off x="7086600" y="2194560"/>
            <a:ext cx="3977639" cy="36576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2_0"/>
          <p:cNvSpPr txBox="1"/>
          <p:nvPr/>
        </p:nvSpPr>
        <p:spPr>
          <a:xfrm>
            <a:off x="7379208" y="2560320"/>
            <a:ext cx="33924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9A4AD"/>
                </a:solidFill>
                <a:latin typeface="Segoe UI"/>
              </a:rPr>
              <a:t>Raciocinar pelas leis do pensamento correto, a tradição lógica.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77240" y="40690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DF1F3"/>
                </a:solidFill>
                <a:latin typeface="Bahnschrift SemiBold"/>
              </a:rPr>
              <a:t>Agir</a:t>
            </a:r>
          </a:p>
        </p:txBody>
      </p:sp>
      <p:sp>
        <p:nvSpPr>
          <p:cNvPr id="15" name="b3_0"/>
          <p:cNvSpPr/>
          <p:nvPr/>
        </p:nvSpPr>
        <p:spPr>
          <a:xfrm>
            <a:off x="2788920" y="3657600"/>
            <a:ext cx="3977639" cy="1280160"/>
          </a:xfrm>
          <a:prstGeom prst="rect">
            <a:avLst/>
          </a:prstGeom>
          <a:solidFill>
            <a:srgbClr val="191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3_0"/>
          <p:cNvSpPr/>
          <p:nvPr/>
        </p:nvSpPr>
        <p:spPr>
          <a:xfrm>
            <a:off x="2788920" y="3657600"/>
            <a:ext cx="3977639" cy="36576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3_0"/>
          <p:cNvSpPr txBox="1"/>
          <p:nvPr/>
        </p:nvSpPr>
        <p:spPr>
          <a:xfrm>
            <a:off x="3081527" y="4023360"/>
            <a:ext cx="33924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DF1F3"/>
                </a:solidFill>
                <a:latin typeface="Segoe UI"/>
              </a:rPr>
              <a:t>Comportar-se de modo indistinguível de uma pessoa, o Teste de Turing.</a:t>
            </a:r>
          </a:p>
        </p:txBody>
      </p:sp>
      <p:sp>
        <p:nvSpPr>
          <p:cNvPr id="18" name="b3_0"/>
          <p:cNvSpPr/>
          <p:nvPr/>
        </p:nvSpPr>
        <p:spPr>
          <a:xfrm>
            <a:off x="7086600" y="3657600"/>
            <a:ext cx="3977639" cy="128016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3_0"/>
          <p:cNvSpPr/>
          <p:nvPr/>
        </p:nvSpPr>
        <p:spPr>
          <a:xfrm>
            <a:off x="7086600" y="3657600"/>
            <a:ext cx="3977639" cy="36576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3_0"/>
          <p:cNvSpPr txBox="1"/>
          <p:nvPr/>
        </p:nvSpPr>
        <p:spPr>
          <a:xfrm>
            <a:off x="7379208" y="4023360"/>
            <a:ext cx="339242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9A4AD"/>
                </a:solidFill>
                <a:latin typeface="Segoe UI"/>
              </a:rPr>
              <a:t>Agir para maximizar o desempenho esperado, o agente racional.</a:t>
            </a:r>
          </a:p>
        </p:txBody>
      </p:sp>
      <p:cxnSp>
        <p:nvCxnSpPr>
          <p:cNvPr id="21" name="b4_0"/>
          <p:cNvCxnSpPr/>
          <p:nvPr/>
        </p:nvCxnSpPr>
        <p:spPr>
          <a:xfrm>
            <a:off x="777240" y="523036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4_0"/>
          <p:cNvSpPr txBox="1"/>
          <p:nvPr/>
        </p:nvSpPr>
        <p:spPr>
          <a:xfrm>
            <a:off x="777240" y="5413248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A definição da questão 1 fica na coluna destacada, a de simular habilidades humanas. Na questão 2 uso um critério prático, mais próximo da coluna da direita.</a:t>
            </a:r>
          </a:p>
        </p:txBody>
      </p:sp>
      <p:sp>
        <p:nvSpPr>
          <p:cNvPr id="23" name="b4_0"/>
          <p:cNvSpPr txBox="1"/>
          <p:nvPr/>
        </p:nvSpPr>
        <p:spPr>
          <a:xfrm>
            <a:off x="6309360" y="5413248"/>
            <a:ext cx="5105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F6A73"/>
                </a:solidFill>
                <a:latin typeface="Segoe UI"/>
              </a:rPr>
              <a:t>Efeito IA: assim que um problema é resolvido ele deixa de ser chamado de IA e vira "só um algoritmo", como aconteceu com o xadrez e o reconhecimento de fala.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05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0" y="1463040"/>
            <a:ext cx="2377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9000" b="0" i="0">
                <a:solidFill>
                  <a:srgbClr val="1B2218"/>
                </a:solidFill>
                <a:latin typeface="Consolas"/>
              </a:rPr>
              <a:t>02</a:t>
            </a:r>
          </a:p>
        </p:txBody>
      </p:sp>
      <p:sp>
        <p:nvSpPr>
          <p:cNvPr id="4" name="b1_0"/>
          <p:cNvSpPr txBox="1"/>
          <p:nvPr/>
        </p:nvSpPr>
        <p:spPr>
          <a:xfrm>
            <a:off x="10058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260">
                <a:solidFill>
                  <a:srgbClr val="CDFF4F"/>
                </a:solidFill>
                <a:latin typeface="Consolas"/>
              </a:rPr>
              <a:t>QUESTÃO 2</a:t>
            </a:r>
          </a:p>
        </p:txBody>
      </p:sp>
      <p:sp>
        <p:nvSpPr>
          <p:cNvPr id="5" name="b1_1"/>
          <p:cNvSpPr txBox="1"/>
          <p:nvPr/>
        </p:nvSpPr>
        <p:spPr>
          <a:xfrm>
            <a:off x="1005840" y="3154680"/>
            <a:ext cx="8412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0">
                <a:solidFill>
                  <a:srgbClr val="EDF1F3"/>
                </a:solidFill>
                <a:latin typeface="Bahnschrift SemiBold"/>
              </a:rPr>
              <a:t>Estas tarefas já podem ser
resolvidas por computadores?</a:t>
            </a:r>
          </a:p>
        </p:txBody>
      </p:sp>
      <p:sp>
        <p:nvSpPr>
          <p:cNvPr id="6" name="b1_1"/>
          <p:cNvSpPr/>
          <p:nvPr/>
        </p:nvSpPr>
        <p:spPr>
          <a:xfrm>
            <a:off x="1005840" y="4709160"/>
            <a:ext cx="1097280" cy="4572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QUESTÃO 2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Três níveis de classificação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/>
          <p:nvPr/>
        </p:nvSpPr>
        <p:spPr>
          <a:xfrm>
            <a:off x="777240" y="1874519"/>
            <a:ext cx="3362858" cy="237744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_0"/>
          <p:cNvSpPr/>
          <p:nvPr/>
        </p:nvSpPr>
        <p:spPr>
          <a:xfrm>
            <a:off x="777240" y="1874519"/>
            <a:ext cx="3362858" cy="4572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1_0"/>
          <p:cNvSpPr/>
          <p:nvPr/>
        </p:nvSpPr>
        <p:spPr>
          <a:xfrm>
            <a:off x="1143000" y="2240280"/>
            <a:ext cx="1508760" cy="292608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8" name="b1_0"/>
          <p:cNvSpPr txBox="1"/>
          <p:nvPr/>
        </p:nvSpPr>
        <p:spPr>
          <a:xfrm>
            <a:off x="1143000" y="2834640"/>
            <a:ext cx="26313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DF1F3"/>
                </a:solidFill>
                <a:latin typeface="Segoe UI"/>
              </a:rPr>
              <a:t>Existe sistema em operação real que cumpre a tarefa no nível pedido pelo enunciado.</a:t>
            </a:r>
          </a:p>
        </p:txBody>
      </p:sp>
      <p:sp>
        <p:nvSpPr>
          <p:cNvPr id="9" name="b1_0"/>
          <p:cNvSpPr txBox="1"/>
          <p:nvPr/>
        </p:nvSpPr>
        <p:spPr>
          <a:xfrm>
            <a:off x="1143000" y="3767328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FD08A"/>
                </a:solidFill>
                <a:latin typeface="Consolas"/>
              </a:rPr>
              <a:t>4 tarefas</a:t>
            </a:r>
          </a:p>
        </p:txBody>
      </p:sp>
      <p:sp>
        <p:nvSpPr>
          <p:cNvPr id="10" name="b1_1"/>
          <p:cNvSpPr/>
          <p:nvPr/>
        </p:nvSpPr>
        <p:spPr>
          <a:xfrm>
            <a:off x="4414418" y="1874519"/>
            <a:ext cx="3362858" cy="237744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1_1"/>
          <p:cNvSpPr/>
          <p:nvPr/>
        </p:nvSpPr>
        <p:spPr>
          <a:xfrm>
            <a:off x="4414418" y="1874519"/>
            <a:ext cx="3362858" cy="457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1_1"/>
          <p:cNvSpPr/>
          <p:nvPr/>
        </p:nvSpPr>
        <p:spPr>
          <a:xfrm>
            <a:off x="4780178" y="2240280"/>
            <a:ext cx="1508760" cy="292608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13" name="b1_1"/>
          <p:cNvSpPr txBox="1"/>
          <p:nvPr/>
        </p:nvSpPr>
        <p:spPr>
          <a:xfrm>
            <a:off x="4780178" y="2834640"/>
            <a:ext cx="26313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DF1F3"/>
                </a:solidFill>
                <a:latin typeface="Segoe UI"/>
              </a:rPr>
              <a:t>Funciona em domínio restrito, ambiente preparado ou sob supervisão humana obrigatória.</a:t>
            </a:r>
          </a:p>
        </p:txBody>
      </p:sp>
      <p:sp>
        <p:nvSpPr>
          <p:cNvPr id="14" name="b1_1"/>
          <p:cNvSpPr txBox="1"/>
          <p:nvPr/>
        </p:nvSpPr>
        <p:spPr>
          <a:xfrm>
            <a:off x="4780178" y="3767328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2B33D"/>
                </a:solidFill>
                <a:latin typeface="Consolas"/>
              </a:rPr>
              <a:t>4 tarefas</a:t>
            </a:r>
          </a:p>
        </p:txBody>
      </p:sp>
      <p:sp>
        <p:nvSpPr>
          <p:cNvPr id="15" name="b1_2"/>
          <p:cNvSpPr/>
          <p:nvPr/>
        </p:nvSpPr>
        <p:spPr>
          <a:xfrm>
            <a:off x="8051596" y="1874519"/>
            <a:ext cx="3362858" cy="237744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1_2"/>
          <p:cNvSpPr/>
          <p:nvPr/>
        </p:nvSpPr>
        <p:spPr>
          <a:xfrm>
            <a:off x="8051596" y="1874519"/>
            <a:ext cx="3362858" cy="4572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1_2"/>
          <p:cNvSpPr/>
          <p:nvPr/>
        </p:nvSpPr>
        <p:spPr>
          <a:xfrm>
            <a:off x="8417356" y="2240280"/>
            <a:ext cx="1783080" cy="292608"/>
          </a:xfrm>
          <a:prstGeom prst="rect">
            <a:avLst/>
          </a:prstGeom>
          <a:noFill/>
          <a:ln w="12700">
            <a:solidFill>
              <a:srgbClr val="F4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4645C"/>
                </a:solidFill>
                <a:latin typeface="Consolas"/>
              </a:rPr>
              <a:t>NÃO RESOLVIDO</a:t>
            </a:r>
          </a:p>
        </p:txBody>
      </p:sp>
      <p:sp>
        <p:nvSpPr>
          <p:cNvPr id="18" name="b1_2"/>
          <p:cNvSpPr txBox="1"/>
          <p:nvPr/>
        </p:nvSpPr>
        <p:spPr>
          <a:xfrm>
            <a:off x="8417356" y="2834640"/>
            <a:ext cx="263133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DF1F3"/>
                </a:solidFill>
                <a:latin typeface="Segoe UI"/>
              </a:rPr>
              <a:t>Nem em laboratório existe sistema que cumpra a tarefa de ponta a ponta com confiabilidade útil.</a:t>
            </a:r>
          </a:p>
        </p:txBody>
      </p:sp>
      <p:sp>
        <p:nvSpPr>
          <p:cNvPr id="19" name="b1_2"/>
          <p:cNvSpPr txBox="1"/>
          <p:nvPr/>
        </p:nvSpPr>
        <p:spPr>
          <a:xfrm>
            <a:off x="8417356" y="3767328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4645C"/>
                </a:solidFill>
                <a:latin typeface="Consolas"/>
              </a:rPr>
              <a:t>2 tarefas</a:t>
            </a:r>
          </a:p>
        </p:txBody>
      </p:sp>
      <p:sp>
        <p:nvSpPr>
          <p:cNvPr id="20" name="b2_0"/>
          <p:cNvSpPr txBox="1"/>
          <p:nvPr/>
        </p:nvSpPr>
        <p:spPr>
          <a:xfrm>
            <a:off x="777240" y="47091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CDFF4F"/>
                </a:solidFill>
                <a:latin typeface="Consolas"/>
              </a:rPr>
              <a:t>SOBRE AS PREVISÕES</a:t>
            </a:r>
          </a:p>
        </p:txBody>
      </p:sp>
      <p:sp>
        <p:nvSpPr>
          <p:cNvPr id="21" name="b2_0"/>
          <p:cNvSpPr txBox="1"/>
          <p:nvPr/>
        </p:nvSpPr>
        <p:spPr>
          <a:xfrm>
            <a:off x="777240" y="5029200"/>
            <a:ext cx="106372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9A4AD"/>
                </a:solidFill>
                <a:latin typeface="Segoe UI"/>
              </a:rPr>
              <a:t>Tarefa cujo obstáculo é técnico tende a cair rápido, porque depende de dados e de computação, que crescem todo ano. Tarefa cujo obstáculo é institucional, como dirigir e operar, anda no ritmo de leis, seguradoras e órgãos reguladores. As datas são estimativas a partir do ritmo relatado na literatura, não consenso da área.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07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QUESTÃO 2 · 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As dez tarefas em um quadro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34440" y="162763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TAREFA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6276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SITUAÇÃO EM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627632"/>
            <a:ext cx="34134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PREVISÃO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883664"/>
            <a:ext cx="10637215" cy="0"/>
          </a:xfrm>
          <a:prstGeom prst="line">
            <a:avLst/>
          </a:prstGeom>
          <a:ln w="12700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1_0"/>
          <p:cNvSpPr txBox="1"/>
          <p:nvPr/>
        </p:nvSpPr>
        <p:spPr>
          <a:xfrm>
            <a:off x="777240" y="207568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01</a:t>
            </a:r>
          </a:p>
        </p:txBody>
      </p:sp>
      <p:sp>
        <p:nvSpPr>
          <p:cNvPr id="10" name="b1_0"/>
          <p:cNvSpPr txBox="1"/>
          <p:nvPr/>
        </p:nvSpPr>
        <p:spPr>
          <a:xfrm>
            <a:off x="1234440" y="20574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Jogar uma partida decente de tênis de mesa</a:t>
            </a:r>
          </a:p>
        </p:txBody>
      </p:sp>
      <p:sp>
        <p:nvSpPr>
          <p:cNvPr id="11" name="b1_0"/>
          <p:cNvSpPr/>
          <p:nvPr/>
        </p:nvSpPr>
        <p:spPr>
          <a:xfrm>
            <a:off x="5989320" y="2029968"/>
            <a:ext cx="1600200" cy="274320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12" name="b1_0"/>
          <p:cNvSpPr txBox="1"/>
          <p:nvPr/>
        </p:nvSpPr>
        <p:spPr>
          <a:xfrm>
            <a:off x="8001000" y="207568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Já superado em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35915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1_1"/>
          <p:cNvSpPr txBox="1"/>
          <p:nvPr/>
        </p:nvSpPr>
        <p:spPr>
          <a:xfrm>
            <a:off x="777240" y="24871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02</a:t>
            </a:r>
          </a:p>
        </p:txBody>
      </p:sp>
      <p:sp>
        <p:nvSpPr>
          <p:cNvPr id="15" name="b1_1"/>
          <p:cNvSpPr txBox="1"/>
          <p:nvPr/>
        </p:nvSpPr>
        <p:spPr>
          <a:xfrm>
            <a:off x="1234440" y="24688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Dirigir com segurança na BR-101 ou em Blumenau</a:t>
            </a:r>
          </a:p>
        </p:txBody>
      </p:sp>
      <p:sp>
        <p:nvSpPr>
          <p:cNvPr id="16" name="b1_1"/>
          <p:cNvSpPr/>
          <p:nvPr/>
        </p:nvSpPr>
        <p:spPr>
          <a:xfrm>
            <a:off x="5989320" y="2441448"/>
            <a:ext cx="1600200" cy="274320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17" name="b1_1"/>
          <p:cNvSpPr txBox="1"/>
          <p:nvPr/>
        </p:nvSpPr>
        <p:spPr>
          <a:xfrm>
            <a:off x="8001000" y="248716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Capital brasileira entre 2032 e 2035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277063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1_2"/>
          <p:cNvSpPr txBox="1"/>
          <p:nvPr/>
        </p:nvSpPr>
        <p:spPr>
          <a:xfrm>
            <a:off x="777240" y="28986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03</a:t>
            </a:r>
          </a:p>
        </p:txBody>
      </p:sp>
      <p:sp>
        <p:nvSpPr>
          <p:cNvPr id="20" name="b1_2"/>
          <p:cNvSpPr txBox="1"/>
          <p:nvPr/>
        </p:nvSpPr>
        <p:spPr>
          <a:xfrm>
            <a:off x="1234440" y="28803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Comprar mantimentos para uma semana na web</a:t>
            </a:r>
          </a:p>
        </p:txBody>
      </p:sp>
      <p:sp>
        <p:nvSpPr>
          <p:cNvPr id="21" name="b1_2"/>
          <p:cNvSpPr/>
          <p:nvPr/>
        </p:nvSpPr>
        <p:spPr>
          <a:xfrm>
            <a:off x="5989320" y="2852928"/>
            <a:ext cx="1600200" cy="274320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22" name="b1_2"/>
          <p:cNvSpPr txBox="1"/>
          <p:nvPr/>
        </p:nvSpPr>
        <p:spPr>
          <a:xfrm>
            <a:off x="8001000" y="289864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Delegação total em 2 a 4 anos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318211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1_3"/>
          <p:cNvSpPr txBox="1"/>
          <p:nvPr/>
        </p:nvSpPr>
        <p:spPr>
          <a:xfrm>
            <a:off x="777240" y="33101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04</a:t>
            </a:r>
          </a:p>
        </p:txBody>
      </p:sp>
      <p:sp>
        <p:nvSpPr>
          <p:cNvPr id="25" name="b1_3"/>
          <p:cNvSpPr txBox="1"/>
          <p:nvPr/>
        </p:nvSpPr>
        <p:spPr>
          <a:xfrm>
            <a:off x="1234440" y="32918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Comprar mantimentos dentro de um supermercado</a:t>
            </a:r>
          </a:p>
        </p:txBody>
      </p:sp>
      <p:sp>
        <p:nvSpPr>
          <p:cNvPr id="26" name="b1_3"/>
          <p:cNvSpPr/>
          <p:nvPr/>
        </p:nvSpPr>
        <p:spPr>
          <a:xfrm>
            <a:off x="5989320" y="3264408"/>
            <a:ext cx="1600200" cy="274320"/>
          </a:xfrm>
          <a:prstGeom prst="rect">
            <a:avLst/>
          </a:prstGeom>
          <a:noFill/>
          <a:ln w="12700">
            <a:solidFill>
              <a:srgbClr val="F4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4645C"/>
                </a:solidFill>
                <a:latin typeface="Consolas"/>
              </a:rPr>
              <a:t>NÃO RESOLVIDO</a:t>
            </a:r>
          </a:p>
        </p:txBody>
      </p:sp>
      <p:sp>
        <p:nvSpPr>
          <p:cNvPr id="27" name="b1_3"/>
          <p:cNvSpPr txBox="1"/>
          <p:nvPr/>
        </p:nvSpPr>
        <p:spPr>
          <a:xfrm>
            <a:off x="8001000" y="331012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Viável em 10 a 15 anos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359359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1_4"/>
          <p:cNvSpPr txBox="1"/>
          <p:nvPr/>
        </p:nvSpPr>
        <p:spPr>
          <a:xfrm>
            <a:off x="777240" y="372160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05</a:t>
            </a:r>
          </a:p>
        </p:txBody>
      </p:sp>
      <p:sp>
        <p:nvSpPr>
          <p:cNvPr id="30" name="b1_4"/>
          <p:cNvSpPr txBox="1"/>
          <p:nvPr/>
        </p:nvSpPr>
        <p:spPr>
          <a:xfrm>
            <a:off x="1234440" y="3703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Descobrir e provar um novo teorema matemático</a:t>
            </a:r>
          </a:p>
        </p:txBody>
      </p:sp>
      <p:sp>
        <p:nvSpPr>
          <p:cNvPr id="31" name="b1_4"/>
          <p:cNvSpPr/>
          <p:nvPr/>
        </p:nvSpPr>
        <p:spPr>
          <a:xfrm>
            <a:off x="5989320" y="3675888"/>
            <a:ext cx="1600200" cy="274320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32" name="b1_4"/>
          <p:cNvSpPr txBox="1"/>
          <p:nvPr/>
        </p:nvSpPr>
        <p:spPr>
          <a:xfrm>
            <a:off x="8001000" y="372160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Teoria profunda: 10 a 20 anos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00507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b1_5"/>
          <p:cNvSpPr txBox="1"/>
          <p:nvPr/>
        </p:nvSpPr>
        <p:spPr>
          <a:xfrm>
            <a:off x="777240" y="413308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06</a:t>
            </a:r>
          </a:p>
        </p:txBody>
      </p:sp>
      <p:sp>
        <p:nvSpPr>
          <p:cNvPr id="35" name="b1_5"/>
          <p:cNvSpPr txBox="1"/>
          <p:nvPr/>
        </p:nvSpPr>
        <p:spPr>
          <a:xfrm>
            <a:off x="1234440" y="41148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Conversar com sucesso com uma pessoa por uma hora</a:t>
            </a:r>
          </a:p>
        </p:txBody>
      </p:sp>
      <p:sp>
        <p:nvSpPr>
          <p:cNvPr id="36" name="b1_5"/>
          <p:cNvSpPr/>
          <p:nvPr/>
        </p:nvSpPr>
        <p:spPr>
          <a:xfrm>
            <a:off x="5989320" y="4087368"/>
            <a:ext cx="1600200" cy="274320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37" name="b1_5"/>
          <p:cNvSpPr txBox="1"/>
          <p:nvPr/>
        </p:nvSpPr>
        <p:spPr>
          <a:xfrm>
            <a:off x="8001000" y="413308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Contra juiz treinado: 2 a 5 anos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441655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b1_6"/>
          <p:cNvSpPr txBox="1"/>
          <p:nvPr/>
        </p:nvSpPr>
        <p:spPr>
          <a:xfrm>
            <a:off x="777240" y="454456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07</a:t>
            </a:r>
          </a:p>
        </p:txBody>
      </p:sp>
      <p:sp>
        <p:nvSpPr>
          <p:cNvPr id="40" name="b1_6"/>
          <p:cNvSpPr txBox="1"/>
          <p:nvPr/>
        </p:nvSpPr>
        <p:spPr>
          <a:xfrm>
            <a:off x="1234440" y="45262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Executar uma operação cirúrgica</a:t>
            </a:r>
          </a:p>
        </p:txBody>
      </p:sp>
      <p:sp>
        <p:nvSpPr>
          <p:cNvPr id="41" name="b1_6"/>
          <p:cNvSpPr/>
          <p:nvPr/>
        </p:nvSpPr>
        <p:spPr>
          <a:xfrm>
            <a:off x="5989320" y="4498848"/>
            <a:ext cx="1600200" cy="274320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42" name="b1_6"/>
          <p:cNvSpPr txBox="1"/>
          <p:nvPr/>
        </p:nvSpPr>
        <p:spPr>
          <a:xfrm>
            <a:off x="8001000" y="454456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Etapas em humanos: 5 a 10 anos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482803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1_7"/>
          <p:cNvSpPr txBox="1"/>
          <p:nvPr/>
        </p:nvSpPr>
        <p:spPr>
          <a:xfrm>
            <a:off x="777240" y="4956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08</a:t>
            </a:r>
          </a:p>
        </p:txBody>
      </p:sp>
      <p:sp>
        <p:nvSpPr>
          <p:cNvPr id="45" name="b1_7"/>
          <p:cNvSpPr txBox="1"/>
          <p:nvPr/>
        </p:nvSpPr>
        <p:spPr>
          <a:xfrm>
            <a:off x="1234440" y="49377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Arrumar os pratos e dobrar a roupa em qualquer casa</a:t>
            </a:r>
          </a:p>
        </p:txBody>
      </p:sp>
      <p:sp>
        <p:nvSpPr>
          <p:cNvPr id="46" name="b1_7"/>
          <p:cNvSpPr/>
          <p:nvPr/>
        </p:nvSpPr>
        <p:spPr>
          <a:xfrm>
            <a:off x="5989320" y="4910328"/>
            <a:ext cx="1600200" cy="274320"/>
          </a:xfrm>
          <a:prstGeom prst="rect">
            <a:avLst/>
          </a:prstGeom>
          <a:noFill/>
          <a:ln w="12700">
            <a:solidFill>
              <a:srgbClr val="F4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4645C"/>
                </a:solidFill>
                <a:latin typeface="Consolas"/>
              </a:rPr>
              <a:t>NÃO RESOLVIDO</a:t>
            </a:r>
          </a:p>
        </p:txBody>
      </p:sp>
      <p:sp>
        <p:nvSpPr>
          <p:cNvPr id="47" name="b1_7"/>
          <p:cNvSpPr txBox="1"/>
          <p:nvPr/>
        </p:nvSpPr>
        <p:spPr>
          <a:xfrm>
            <a:off x="8001000" y="495604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Qualquer casa: 10 a 15 anos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77240" y="523951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1_8"/>
          <p:cNvSpPr txBox="1"/>
          <p:nvPr/>
        </p:nvSpPr>
        <p:spPr>
          <a:xfrm>
            <a:off x="777240" y="5367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09</a:t>
            </a:r>
          </a:p>
        </p:txBody>
      </p:sp>
      <p:sp>
        <p:nvSpPr>
          <p:cNvPr id="50" name="b1_8"/>
          <p:cNvSpPr txBox="1"/>
          <p:nvPr/>
        </p:nvSpPr>
        <p:spPr>
          <a:xfrm>
            <a:off x="1234440" y="53492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Traduzir alemão falado para português em tempo real</a:t>
            </a:r>
          </a:p>
        </p:txBody>
      </p:sp>
      <p:sp>
        <p:nvSpPr>
          <p:cNvPr id="51" name="b1_8"/>
          <p:cNvSpPr/>
          <p:nvPr/>
        </p:nvSpPr>
        <p:spPr>
          <a:xfrm>
            <a:off x="5989320" y="5321808"/>
            <a:ext cx="1600200" cy="274320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52" name="b1_8"/>
          <p:cNvSpPr txBox="1"/>
          <p:nvPr/>
        </p:nvSpPr>
        <p:spPr>
          <a:xfrm>
            <a:off x="8001000" y="536752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Intérprete de conferência: 3 a 7 anos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77240" y="565099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b1_9"/>
          <p:cNvSpPr txBox="1"/>
          <p:nvPr/>
        </p:nvSpPr>
        <p:spPr>
          <a:xfrm>
            <a:off x="777240" y="577900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DFF4F"/>
                </a:solidFill>
                <a:latin typeface="Consolas"/>
              </a:rPr>
              <a:t>10</a:t>
            </a:r>
          </a:p>
        </p:txBody>
      </p:sp>
      <p:sp>
        <p:nvSpPr>
          <p:cNvPr id="55" name="b1_9"/>
          <p:cNvSpPr txBox="1"/>
          <p:nvPr/>
        </p:nvSpPr>
        <p:spPr>
          <a:xfrm>
            <a:off x="1234440" y="57607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1F3"/>
                </a:solidFill>
                <a:latin typeface="Segoe UI"/>
              </a:rPr>
              <a:t>Escrever uma história intencionalmente engraçada</a:t>
            </a:r>
          </a:p>
        </p:txBody>
      </p:sp>
      <p:sp>
        <p:nvSpPr>
          <p:cNvPr id="56" name="b1_9"/>
          <p:cNvSpPr/>
          <p:nvPr/>
        </p:nvSpPr>
        <p:spPr>
          <a:xfrm>
            <a:off x="5989320" y="5733288"/>
            <a:ext cx="1600200" cy="274320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57" name="b1_9"/>
          <p:cNvSpPr txBox="1"/>
          <p:nvPr/>
        </p:nvSpPr>
        <p:spPr>
          <a:xfrm>
            <a:off x="8001000" y="577900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Conto profissional: 3 a 8 anos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77240" y="6062472"/>
            <a:ext cx="10637215" cy="0"/>
          </a:xfrm>
          <a:prstGeom prst="line">
            <a:avLst/>
          </a:prstGeom>
          <a:ln w="6350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08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4" grpId="0"/>
      <p:bldP spid="15" grpId="0"/>
      <p:bldP spid="16" grpId="0" animBg="1"/>
      <p:bldP spid="17" grpId="0"/>
      <p:bldP spid="19" grpId="0"/>
      <p:bldP spid="20" grpId="0"/>
      <p:bldP spid="21" grpId="0" animBg="1"/>
      <p:bldP spid="22" grpId="0"/>
      <p:bldP spid="24" grpId="0"/>
      <p:bldP spid="25" grpId="0"/>
      <p:bldP spid="26" grpId="0" animBg="1"/>
      <p:bldP spid="27" grpId="0"/>
      <p:bldP spid="29" grpId="0"/>
      <p:bldP spid="30" grpId="0"/>
      <p:bldP spid="31" grpId="0" animBg="1"/>
      <p:bldP spid="32" grpId="0"/>
      <p:bldP spid="34" grpId="0"/>
      <p:bldP spid="35" grpId="0"/>
      <p:bldP spid="36" grpId="0" animBg="1"/>
      <p:bldP spid="37" grpId="0"/>
      <p:bldP spid="39" grpId="0"/>
      <p:bldP spid="40" grpId="0"/>
      <p:bldP spid="41" grpId="0" animBg="1"/>
      <p:bldP spid="42" grpId="0"/>
      <p:bldP spid="44" grpId="0"/>
      <p:bldP spid="45" grpId="0"/>
      <p:bldP spid="46" grpId="0" animBg="1"/>
      <p:bldP spid="47" grpId="0"/>
      <p:bldP spid="49" grpId="0"/>
      <p:bldP spid="50" grpId="0"/>
      <p:bldP spid="51" grpId="0" animBg="1"/>
      <p:bldP spid="52" grpId="0"/>
      <p:bldP spid="54" grpId="0"/>
      <p:bldP spid="55" grpId="0"/>
      <p:bldP spid="56" grpId="0" animBg="1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2FD08A"/>
                </a:solidFill>
                <a:latin typeface="Consolas"/>
              </a:rPr>
              <a:t>TAREFA 01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Jogar uma partida decente de tênis de mesa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DeepMind, 2024: primeiro robô em nível amador, venceu 13 de 29 partidas e 100% dos iniciantes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Sony Ace, 2026: nove câmeras, sensores de evento e leitura do logotipo da bola para estimar o efeito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Venceu ao menos uma vez cada profissional que enfrentou, sob as regras da ITTF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2FD08A"/>
                </a:solidFill>
                <a:latin typeface="Bahnschrift SemiBold"/>
              </a:rPr>
              <a:t>1º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sistema autônomo a vencer jogadores profissionais: o Sony Ace, capa da revista Nature em abril de 2026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A bola cruza a mesa em cerca de 300 ms: perceber, prever e mover o braço em dezenas de milissegundos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 efeito quase não aparece na imagem, mas muda toda a trajetória depois do quique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Lacuna entre o simulador, onde a política é treinada, e o mundo real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2FD08A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Tarefa cumprida. A versão humanoide, que corre atrás da bola, ainda leva mais de 10 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09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2B33D"/>
                </a:solidFill>
                <a:latin typeface="Consolas"/>
              </a:rPr>
              <a:t>TAREFA 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F1F3"/>
                </a:solidFill>
                <a:latin typeface="Bahnschrift SemiBold"/>
              </a:rPr>
              <a:t>Dirigir com segurança na BR-101 ou nas ruas de Blumenau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Waymo e Baidu operam sem motorista em áreas mapeadas, com teleoperação de apoio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Já é produto, desde que o domínio operacional seja bem definido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Nenhuma cidade brasileira foi mapeada em alta definição, e o Brasil não é o próximo mercado da fila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F2B33D"/>
                </a:solidFill>
                <a:latin typeface="Bahnschrift SemiBold"/>
              </a:rPr>
              <a:t>400 mil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corridas pagas por semana da Waymo, em 11 cidades dos Estados Unidos, com meta de 1 milhão até o fim de 2026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Moto entre as faixas, ultrapassagem pelo acostamento, animal na pista, neblina de serra e obra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Blumenau: rua estreita, aclive, pedestre fora da faixa e enchente que muda a via de um dia para o outro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 CTB não reconhece a categoria veículo autônomo. O PL 1317/2023 ainda exige condutor a bordo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2B33D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Nível 3 em rodovia, 3 a 5 anos. Robotáxi em capital, 2032 a 2035. Blumenau e a BR-101 inteira, década de 2040.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10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2FD08A"/>
                </a:solidFill>
                <a:latin typeface="Consolas"/>
              </a:rPr>
              <a:t>TAREFA 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Comprar mantimentos para uma semana na web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Ambiente ideal para um agente: digital, com catálogo estruturado, preço explícito e ação reversível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Agentes já montam o carrinho, comparam preço, respeitam restrição alimentar e agendam a entrega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Mercado e assinatura são justamente as categorias que puxam o volume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2FD08A"/>
                </a:solidFill>
                <a:latin typeface="Bahnschrift SemiBold"/>
              </a:rPr>
              <a:t>US$ 20 bi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em compras finalizadas por agentes nos Estados Unidos em 2026, cerca de 1,5% do e-commerce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Pagamento e autenticação foram desenhados para barrar um software agindo em nome de alguém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Substituir o item que faltou é julgamento, não busca: marca, preço e qualidade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27% dos consumidores não confiam em nenhuma empresa para operar um agente de compras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2FD08A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Com a lista pronta, é presente. Delegar o cardápio da semana inteiro, 2 a 4 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11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4645C"/>
                </a:solidFill>
                <a:latin typeface="Consolas"/>
              </a:rPr>
              <a:t>TAREFA 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Comprar mantimentos dentro de um supermercado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448495" y="512064"/>
            <a:ext cx="1965960" cy="310896"/>
          </a:xfrm>
          <a:prstGeom prst="rect">
            <a:avLst/>
          </a:prstGeom>
          <a:noFill/>
          <a:ln w="12700">
            <a:solidFill>
              <a:srgbClr val="F4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4645C"/>
                </a:solidFill>
                <a:latin typeface="Consolas"/>
              </a:rPr>
              <a:t>NÃO 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 loja real virou banco de provas: o estudo SHOPPER catalogou 1.200 pegadas em mais de 800 itens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Benchmark de 2026: 92% de sucesso por item, 60% no pacote deformável, 7,5 s por item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Nenhum robô faz a compra inteira sozinho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F4645C"/>
                </a:solidFill>
                <a:latin typeface="Bahnschrift SemiBold"/>
              </a:rPr>
              <a:t>3,5%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de chance de acertar uma compra de 40 itens com 92% de sucesso por item, que é o melhor resultado de 2026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Manipulação móvel entre pessoas e carrinhos, prateleira alta e baixa, porta de freezer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Ovo, pão de forma, saco de arroz e garrafa pedem pegadas e forças diferentes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Ler rótulo, conferir validade, pesar hortifrúti, escolher a fruta madura, ensacar e pagar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4645C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Demonstração completa em 3 a 5 anos, viável em 10 a 15. O mercado deve resolver por fora, com centro de distribuição e entrega.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12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2B33D"/>
                </a:solidFill>
                <a:latin typeface="Consolas"/>
              </a:rPr>
              <a:t>TAREFA 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Descobrir e provar um novo teorema matemático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1996: o provador EQP fecha a conjectura de Robbins, aberta desde 1933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Maio de 2026, OpenAI: refutação da conjectura das distâncias unitárias de Erdős, de 1946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 prova foi digerida, verificada e publicada por Alon, Gowers e outros matemáticos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F2B33D"/>
                </a:solidFill>
                <a:latin typeface="Bahnschrift SemiBold"/>
              </a:rPr>
              <a:t>9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problemas abertos de Erdős resolvidos pelo AlphaProof Nexus em maio de 2026, com prova verificada em Lean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 mérito está em fazer a pergunta certa e criar teoria, e essa agenda ainda é humana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Garantir que o resultado é mesmo novo exige varrer a literatura, coisa que os sistemas fazem mal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Fora do ambiente formal, a prova em texto pode conter passo falso convincente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2B33D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Teorema novo de escopo delimitado é presente. Teoria profunda e autônoma, 10 a 20 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13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2FD08A"/>
                </a:solidFill>
                <a:latin typeface="Consolas"/>
              </a:rPr>
              <a:t>TAREFA 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F1F3"/>
                </a:solidFill>
                <a:latin typeface="Bahnschrift SemiBold"/>
              </a:rPr>
              <a:t>Conversar com sucesso com outra pessoa por uma hora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Teste de Turing de três partes, em formato controlado, com 284 participantes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Sem instrução de persona o desempenho cai para 36%: o decisivo é a encenação, não a língua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Em voz, os modelos respondem em centenas de milissegundos e aceitam interrupção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2FD08A"/>
                </a:solidFill>
                <a:latin typeface="Bahnschrift SemiBold"/>
              </a:rPr>
              <a:t>73%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das conversas em que o GPT-4.5 foi julgado humano, com persona, em rodadas de 5 minutos (Jones e Bergen, PNAS)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Uma hora cobra memória e autobiografia consistente, e não apenas escrever bem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 modelo não almoçou nem pegou trânsito: falta vida própria para ancorar a conversa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Prestativo demais, polido demais e recusa com aviso de política são as pistas que entregam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2FD08A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Conversa cooperativa é presente. Contra um interrogador especialista, por uma hora, 2 a 5 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14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2B33D"/>
                </a:solidFill>
                <a:latin typeface="Consolas"/>
              </a:rPr>
              <a:t>TAREFA 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Executar uma operação cirúrgica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O robô da Vinci é teleoperado: cada movimento é do cirurgião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Autonomia real só em nicho de alvo geométrico: radiocirurgia, laser e fresamento ósseo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STAR, 2022: anastomose intestinal autônoma em porco vivo. O SRT-H ainda aceita correção falada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F2B33D"/>
                </a:solidFill>
                <a:latin typeface="Bahnschrift SemiBold"/>
              </a:rPr>
              <a:t>100%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de sucesso do SRT-H na fase de dissecção de colecistectomia, em 8 vesículas suínas ex vivo (Science Robotics, 2025)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Não existem dois pacientes iguais, e inflamação e aderência mudam o campo cirúrgico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Sangue, fumaça de cautério e tecido que se deforma a cada corte: o mapa muda enquanto o robô age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Não há caminho de aprovação, na FDA ou na Anvisa, nem definição de quem responde pelo dano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2B33D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Etapas autônomas supervisionadas em humanos, 5 a 10 anos. Operação completa, mais de 20. A tecnologia chega antes da permissão.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15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4645C"/>
                </a:solidFill>
                <a:latin typeface="Consolas"/>
              </a:rPr>
              <a:t>TAREFA 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F1F3"/>
                </a:solidFill>
                <a:latin typeface="Bahnschrift SemiBold"/>
              </a:rPr>
              <a:t>Arrumar os pratos e dobrar a roupa em qualquer casa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448495" y="512064"/>
            <a:ext cx="1965960" cy="310896"/>
          </a:xfrm>
          <a:prstGeom prst="rect">
            <a:avLst/>
          </a:prstGeom>
          <a:noFill/>
          <a:ln w="12700">
            <a:solidFill>
              <a:srgbClr val="F4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4645C"/>
                </a:solidFill>
                <a:latin typeface="Consolas"/>
              </a:rPr>
              <a:t>NÃO 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Em 2010 o PR2 de Berkeley dobrava uma toalha em cerca de 25 minutos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π0.5, de 2025: primeiro a arrumar cozinha e quarto de casas que não estavam no treinamento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 CES 2026 foi tomada por humanoides dobrando camisa, sempre em ambiente controlado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F4645C"/>
                </a:solidFill>
                <a:latin typeface="Bahnschrift SemiBold"/>
              </a:rPr>
              <a:t>US$ 20 mil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é o preço do humanoide 1X NEO, que ainda chama um teleoperador humano nas tarefas difíceis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Camisa amassada tem configuração quase infinita e o próprio tecido esconde as bordas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Tarefa longa: dezenas de passos encadeados e um prato no chão invalida tudo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4645C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Qualquer casa é o problema: generalizar fora do treino, sem dado físico em escala de internet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4645C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Lento porém sem teleoperação, em casa adaptada, 3 a 6 anos. Qualquer casa, 10 a 15. É o paradoxo de Moravec: o teorema saiu antes da roupa dobrada.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16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2FD08A"/>
                </a:solidFill>
                <a:latin typeface="Consolas"/>
              </a:rPr>
              <a:t>TAREFA 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F1F3"/>
                </a:solidFill>
                <a:latin typeface="Bahnschrift SemiBold"/>
              </a:rPr>
              <a:t>Traduzir o alemão falado para o português em tempo real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2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2FD08A"/>
                </a:solidFill>
                <a:latin typeface="Consolas"/>
              </a:rPr>
              <a:t>RESOLVIDO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Os sistemas deixaram de encadear fala, texto e voz, o que corta latência e erro acumulado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O Google Meet traduz mantendo o timbre de quem fala e os AirPods traduzem ao vivo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 distância entre os sistemas de pesquisa e os produtos comerciais está encolhendo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2FD08A"/>
                </a:solidFill>
                <a:latin typeface="Bahnschrift SemiBold"/>
              </a:rPr>
              <a:t>&lt; 1 s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de latência nos modelos fim a fim de fala para fala, em dezenas de idiomas (campanha IWSLT 2026)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O verbo alemão vai para o fim: esperar aumenta o atraso, arriscar obriga a corrigir no meio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Composto longo, termo técnico e dialetos como o bávaro e o suíço-alemão derrubam o reconhecimento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2FD08A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Alemão para português tem pouco dado, e vários sistemas ainda pivotam pelo inglês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2FD08A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Uso cotidiano é presente. Nível de intérprete de conferência, 3 a 7 anos, com humano no circuito em contexto jurídico e médico.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17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F2B33D"/>
                </a:solidFill>
                <a:latin typeface="Consolas"/>
              </a:rPr>
              <a:t>TAREFA 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8321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F1F3"/>
                </a:solidFill>
                <a:latin typeface="Bahnschrift SemiBold"/>
              </a:rPr>
              <a:t>Escrever uma história intencionalmente engraçada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722815" y="512064"/>
            <a:ext cx="1691640" cy="310896"/>
          </a:xfrm>
          <a:prstGeom prst="rect">
            <a:avLst/>
          </a:prstGeom>
          <a:noFill/>
          <a:ln w="12700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0" spc="80">
                <a:solidFill>
                  <a:srgbClr val="F2B33D"/>
                </a:solidFill>
                <a:latin typeface="Consolas"/>
              </a:rPr>
              <a:t>PARCIAL</a:t>
            </a:r>
          </a:p>
        </p:txBody>
      </p:sp>
      <p:sp>
        <p:nvSpPr>
          <p:cNvPr id="6" name="b1_0"/>
          <p:cNvSpPr txBox="1"/>
          <p:nvPr/>
        </p:nvSpPr>
        <p:spPr>
          <a:xfrm>
            <a:off x="777240" y="1691640"/>
            <a:ext cx="6263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ONDE ESTÁ A TECNOLOGIA</a:t>
            </a:r>
          </a:p>
        </p:txBody>
      </p:sp>
      <p:sp>
        <p:nvSpPr>
          <p:cNvPr id="7" name="b1_0"/>
          <p:cNvSpPr txBox="1"/>
          <p:nvPr/>
        </p:nvSpPr>
        <p:spPr>
          <a:xfrm>
            <a:off x="777240" y="2057400"/>
            <a:ext cx="6263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Em parte dos testes não ficou atrás dos redatores profissionais de um jornal satírico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Assumir explicitamente a identidade de máquina aumenta a graça percebida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15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EDF1F3"/>
                </a:solidFill>
                <a:latin typeface="Segoe UI"/>
              </a:rPr>
              <a:t>Em piada curta, já supera o leigo médio</a:t>
            </a:r>
          </a:p>
        </p:txBody>
      </p:sp>
      <p:sp>
        <p:nvSpPr>
          <p:cNvPr id="8" name="b2_0"/>
          <p:cNvSpPr/>
          <p:nvPr/>
        </p:nvSpPr>
        <p:spPr>
          <a:xfrm>
            <a:off x="777240" y="3840480"/>
            <a:ext cx="6263640" cy="1325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2_0"/>
          <p:cNvSpPr/>
          <p:nvPr/>
        </p:nvSpPr>
        <p:spPr>
          <a:xfrm>
            <a:off x="777240" y="3840480"/>
            <a:ext cx="54864" cy="132588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_0"/>
          <p:cNvSpPr txBox="1"/>
          <p:nvPr/>
        </p:nvSpPr>
        <p:spPr>
          <a:xfrm>
            <a:off x="1161288" y="4005072"/>
            <a:ext cx="55321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F2B33D"/>
                </a:solidFill>
                <a:latin typeface="Bahnschrift SemiBold"/>
              </a:rPr>
              <a:t>70%</a:t>
            </a:r>
          </a:p>
        </p:txBody>
      </p:sp>
      <p:sp>
        <p:nvSpPr>
          <p:cNvPr id="11" name="b2_0"/>
          <p:cNvSpPr txBox="1"/>
          <p:nvPr/>
        </p:nvSpPr>
        <p:spPr>
          <a:xfrm>
            <a:off x="1161288" y="4718304"/>
            <a:ext cx="544067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99A4AD"/>
                </a:solidFill>
                <a:latin typeface="Segoe UI"/>
              </a:rPr>
              <a:t>dos participantes acharam a piada da IA mais engraçada que a de pessoas comuns (USC, 2024)</a:t>
            </a:r>
          </a:p>
        </p:txBody>
      </p:sp>
      <p:sp>
        <p:nvSpPr>
          <p:cNvPr id="12" name="b3_0"/>
          <p:cNvSpPr/>
          <p:nvPr/>
        </p:nvSpPr>
        <p:spPr>
          <a:xfrm>
            <a:off x="7452360" y="1691640"/>
            <a:ext cx="3962095" cy="347472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3_0"/>
          <p:cNvSpPr txBox="1"/>
          <p:nvPr/>
        </p:nvSpPr>
        <p:spPr>
          <a:xfrm>
            <a:off x="7818120" y="2011680"/>
            <a:ext cx="32305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F6A73"/>
                </a:solidFill>
                <a:latin typeface="Consolas"/>
              </a:rPr>
              <a:t>PRINCIPAIS DIFICULDADES</a:t>
            </a:r>
          </a:p>
        </p:txBody>
      </p:sp>
      <p:sp>
        <p:nvSpPr>
          <p:cNvPr id="14" name="b3_0"/>
          <p:cNvSpPr txBox="1"/>
          <p:nvPr/>
        </p:nvSpPr>
        <p:spPr>
          <a:xfrm>
            <a:off x="7818120" y="2395728"/>
            <a:ext cx="3230575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Graça exige risco, e o treino por preferência humana empurra o modelo para o inofensivo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Pedindo piadas em série, o modelo recicla um punhado pequeno de fórmulas</a:t>
            </a:r>
          </a:p>
          <a:p>
            <a:pPr marL="201168" indent="-201168" algn="l">
              <a:lnSpc>
                <a:spcPct val="130000"/>
              </a:lnSpc>
              <a:spcAft>
                <a:spcPts val="1300"/>
              </a:spcAft>
            </a:pPr>
            <a:r>
              <a:rPr sz="1100" b="1">
                <a:solidFill>
                  <a:srgbClr val="F2B33D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EDF1F3"/>
                </a:solidFill>
                <a:latin typeface="Segoe UI"/>
              </a:rPr>
              <a:t>Conto exige estrutura, escalada e retomada do gancho, não só a tirada isolada</a:t>
            </a:r>
          </a:p>
        </p:txBody>
      </p:sp>
      <p:sp>
        <p:nvSpPr>
          <p:cNvPr id="15" name="b4_0"/>
          <p:cNvSpPr/>
          <p:nvPr/>
        </p:nvSpPr>
        <p:spPr>
          <a:xfrm>
            <a:off x="777240" y="5349240"/>
            <a:ext cx="10637215" cy="731520"/>
          </a:xfrm>
          <a:prstGeom prst="rect">
            <a:avLst/>
          </a:prstGeom>
          <a:solidFill>
            <a:srgbClr val="18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4_0"/>
          <p:cNvSpPr/>
          <p:nvPr/>
        </p:nvSpPr>
        <p:spPr>
          <a:xfrm>
            <a:off x="777240" y="5349240"/>
            <a:ext cx="54864" cy="73152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4_0"/>
          <p:cNvSpPr txBox="1"/>
          <p:nvPr/>
        </p:nvSpPr>
        <p:spPr>
          <a:xfrm>
            <a:off x="1161288" y="5468112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 spc="180">
                <a:solidFill>
                  <a:srgbClr val="F2B33D"/>
                </a:solidFill>
                <a:latin typeface="Consolas"/>
              </a:rPr>
              <a:t>PREVISÃO</a:t>
            </a:r>
          </a:p>
        </p:txBody>
      </p:sp>
      <p:sp>
        <p:nvSpPr>
          <p:cNvPr id="18" name="b4_0"/>
          <p:cNvSpPr txBox="1"/>
          <p:nvPr/>
        </p:nvSpPr>
        <p:spPr>
          <a:xfrm>
            <a:off x="2514600" y="546811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DF1F3"/>
                </a:solidFill>
                <a:latin typeface="Segoe UI"/>
              </a:rPr>
              <a:t>Texto curto e divertido é presente. Conto profissional, com voz autoral reconhecível, 3 a 8 anos.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18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O mapa das dez tarefas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11680" y="4434840"/>
            <a:ext cx="9281160" cy="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31970" y="1965960"/>
            <a:ext cx="0" cy="329184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3611880"/>
            <a:ext cx="9281160" cy="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2259" y="1965960"/>
            <a:ext cx="0" cy="329184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11680" y="2788920"/>
            <a:ext cx="9281160" cy="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72550" y="1965960"/>
            <a:ext cx="0" cy="3291840"/>
          </a:xfrm>
          <a:prstGeom prst="line">
            <a:avLst/>
          </a:prstGeom>
          <a:ln w="9525">
            <a:solidFill>
              <a:srgbClr val="1C22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0" y="5257800"/>
            <a:ext cx="9390887" cy="0"/>
          </a:xfrm>
          <a:prstGeom prst="line">
            <a:avLst/>
          </a:prstGeom>
          <a:ln w="12700">
            <a:solidFill>
              <a:srgbClr val="5F6A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11680" y="1856231"/>
            <a:ext cx="0" cy="3401569"/>
          </a:xfrm>
          <a:prstGeom prst="line">
            <a:avLst/>
          </a:prstGeom>
          <a:ln w="12700">
            <a:solidFill>
              <a:srgbClr val="5F6A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11680" y="540410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140">
                <a:solidFill>
                  <a:srgbClr val="5F6A73"/>
                </a:solidFill>
                <a:latin typeface="Consolas"/>
              </a:rPr>
              <a:t>AMBIENTE FECHADO E REGRADO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404104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 spc="140">
                <a:solidFill>
                  <a:srgbClr val="5F6A73"/>
                </a:solidFill>
                <a:latin typeface="Consolas"/>
              </a:rPr>
              <a:t>AMBIENTE ABERTO E IMPREVISÍVEL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512064" y="432511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 spc="140">
                <a:solidFill>
                  <a:srgbClr val="5F6A73"/>
                </a:solidFill>
                <a:latin typeface="Consolas"/>
              </a:rPr>
              <a:t>ERRO BARATO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512064" y="2679191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 spc="140">
                <a:solidFill>
                  <a:srgbClr val="5F6A73"/>
                </a:solidFill>
                <a:latin typeface="Consolas"/>
              </a:rPr>
              <a:t>ERRO CARO E IRREVERSÍVEL</a:t>
            </a:r>
          </a:p>
        </p:txBody>
      </p:sp>
      <p:sp>
        <p:nvSpPr>
          <p:cNvPr id="17" name="b1_0"/>
          <p:cNvSpPr/>
          <p:nvPr/>
        </p:nvSpPr>
        <p:spPr>
          <a:xfrm>
            <a:off x="2459507" y="4875215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10</a:t>
            </a:r>
          </a:p>
        </p:txBody>
      </p:sp>
      <p:sp>
        <p:nvSpPr>
          <p:cNvPr id="18" name="b1_0"/>
          <p:cNvSpPr txBox="1"/>
          <p:nvPr/>
        </p:nvSpPr>
        <p:spPr>
          <a:xfrm>
            <a:off x="2880131" y="4930079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história engraçada</a:t>
            </a:r>
          </a:p>
        </p:txBody>
      </p:sp>
      <p:sp>
        <p:nvSpPr>
          <p:cNvPr id="19" name="b1_1"/>
          <p:cNvSpPr/>
          <p:nvPr/>
        </p:nvSpPr>
        <p:spPr>
          <a:xfrm>
            <a:off x="4195084" y="4740249"/>
            <a:ext cx="310896" cy="310896"/>
          </a:xfrm>
          <a:prstGeom prst="ellipse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1</a:t>
            </a:r>
          </a:p>
        </p:txBody>
      </p:sp>
      <p:sp>
        <p:nvSpPr>
          <p:cNvPr id="20" name="b1_1"/>
          <p:cNvSpPr txBox="1"/>
          <p:nvPr/>
        </p:nvSpPr>
        <p:spPr>
          <a:xfrm>
            <a:off x="4615708" y="4795113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tênis de mesa</a:t>
            </a:r>
          </a:p>
        </p:txBody>
      </p:sp>
      <p:sp>
        <p:nvSpPr>
          <p:cNvPr id="21" name="b1_2"/>
          <p:cNvSpPr/>
          <p:nvPr/>
        </p:nvSpPr>
        <p:spPr>
          <a:xfrm>
            <a:off x="2747223" y="4226722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5</a:t>
            </a:r>
          </a:p>
        </p:txBody>
      </p:sp>
      <p:sp>
        <p:nvSpPr>
          <p:cNvPr id="22" name="b1_2"/>
          <p:cNvSpPr txBox="1"/>
          <p:nvPr/>
        </p:nvSpPr>
        <p:spPr>
          <a:xfrm>
            <a:off x="3167847" y="428158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teorema</a:t>
            </a:r>
          </a:p>
        </p:txBody>
      </p:sp>
      <p:sp>
        <p:nvSpPr>
          <p:cNvPr id="23" name="b1_3"/>
          <p:cNvSpPr/>
          <p:nvPr/>
        </p:nvSpPr>
        <p:spPr>
          <a:xfrm>
            <a:off x="4640579" y="3877787"/>
            <a:ext cx="310896" cy="310896"/>
          </a:xfrm>
          <a:prstGeom prst="ellipse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3</a:t>
            </a:r>
          </a:p>
        </p:txBody>
      </p:sp>
      <p:sp>
        <p:nvSpPr>
          <p:cNvPr id="24" name="b1_3"/>
          <p:cNvSpPr txBox="1"/>
          <p:nvPr/>
        </p:nvSpPr>
        <p:spPr>
          <a:xfrm>
            <a:off x="5061203" y="3932651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compras na web</a:t>
            </a:r>
          </a:p>
        </p:txBody>
      </p:sp>
      <p:sp>
        <p:nvSpPr>
          <p:cNvPr id="25" name="b1_4"/>
          <p:cNvSpPr/>
          <p:nvPr/>
        </p:nvSpPr>
        <p:spPr>
          <a:xfrm>
            <a:off x="6496812" y="4671120"/>
            <a:ext cx="310896" cy="310896"/>
          </a:xfrm>
          <a:prstGeom prst="ellipse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6</a:t>
            </a:r>
          </a:p>
        </p:txBody>
      </p:sp>
      <p:sp>
        <p:nvSpPr>
          <p:cNvPr id="26" name="b1_4"/>
          <p:cNvSpPr txBox="1"/>
          <p:nvPr/>
        </p:nvSpPr>
        <p:spPr>
          <a:xfrm>
            <a:off x="6917436" y="472598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conversar 1 hora</a:t>
            </a:r>
          </a:p>
        </p:txBody>
      </p:sp>
      <p:sp>
        <p:nvSpPr>
          <p:cNvPr id="27" name="b1_5"/>
          <p:cNvSpPr/>
          <p:nvPr/>
        </p:nvSpPr>
        <p:spPr>
          <a:xfrm>
            <a:off x="5977067" y="3285256"/>
            <a:ext cx="310896" cy="310896"/>
          </a:xfrm>
          <a:prstGeom prst="ellipse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9</a:t>
            </a:r>
          </a:p>
        </p:txBody>
      </p:sp>
      <p:sp>
        <p:nvSpPr>
          <p:cNvPr id="28" name="b1_5"/>
          <p:cNvSpPr txBox="1"/>
          <p:nvPr/>
        </p:nvSpPr>
        <p:spPr>
          <a:xfrm>
            <a:off x="6397691" y="3340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tradução simultânea</a:t>
            </a:r>
          </a:p>
        </p:txBody>
      </p:sp>
      <p:sp>
        <p:nvSpPr>
          <p:cNvPr id="29" name="b1_6"/>
          <p:cNvSpPr/>
          <p:nvPr/>
        </p:nvSpPr>
        <p:spPr>
          <a:xfrm>
            <a:off x="9624562" y="4285975"/>
            <a:ext cx="310896" cy="310896"/>
          </a:xfrm>
          <a:prstGeom prst="ellipse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8</a:t>
            </a:r>
          </a:p>
        </p:txBody>
      </p:sp>
      <p:sp>
        <p:nvSpPr>
          <p:cNvPr id="30" name="b1_6"/>
          <p:cNvSpPr txBox="1"/>
          <p:nvPr/>
        </p:nvSpPr>
        <p:spPr>
          <a:xfrm>
            <a:off x="8682730" y="4670023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EDF1F3"/>
                </a:solidFill>
                <a:latin typeface="Segoe UI"/>
              </a:rPr>
              <a:t>pratos e roupa</a:t>
            </a:r>
          </a:p>
        </p:txBody>
      </p:sp>
      <p:sp>
        <p:nvSpPr>
          <p:cNvPr id="31" name="b1_7"/>
          <p:cNvSpPr/>
          <p:nvPr/>
        </p:nvSpPr>
        <p:spPr>
          <a:xfrm>
            <a:off x="8640759" y="3693444"/>
            <a:ext cx="310896" cy="310896"/>
          </a:xfrm>
          <a:prstGeom prst="ellipse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4</a:t>
            </a:r>
          </a:p>
        </p:txBody>
      </p:sp>
      <p:sp>
        <p:nvSpPr>
          <p:cNvPr id="32" name="b1_7"/>
          <p:cNvSpPr txBox="1"/>
          <p:nvPr/>
        </p:nvSpPr>
        <p:spPr>
          <a:xfrm>
            <a:off x="9061383" y="374830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supermercado</a:t>
            </a:r>
          </a:p>
        </p:txBody>
      </p:sp>
      <p:sp>
        <p:nvSpPr>
          <p:cNvPr id="33" name="b1_8"/>
          <p:cNvSpPr/>
          <p:nvPr/>
        </p:nvSpPr>
        <p:spPr>
          <a:xfrm>
            <a:off x="10107183" y="2376708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2</a:t>
            </a:r>
          </a:p>
        </p:txBody>
      </p:sp>
      <p:sp>
        <p:nvSpPr>
          <p:cNvPr id="34" name="b1_8"/>
          <p:cNvSpPr txBox="1"/>
          <p:nvPr/>
        </p:nvSpPr>
        <p:spPr>
          <a:xfrm>
            <a:off x="9165351" y="276075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EDF1F3"/>
                </a:solidFill>
                <a:latin typeface="Segoe UI"/>
              </a:rPr>
              <a:t>dirigir</a:t>
            </a:r>
          </a:p>
        </p:txBody>
      </p:sp>
      <p:sp>
        <p:nvSpPr>
          <p:cNvPr id="35" name="b1_9"/>
          <p:cNvSpPr/>
          <p:nvPr/>
        </p:nvSpPr>
        <p:spPr>
          <a:xfrm>
            <a:off x="7666238" y="2014606"/>
            <a:ext cx="310896" cy="310896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E11"/>
                </a:solidFill>
                <a:latin typeface="Consolas"/>
              </a:rPr>
              <a:t>7</a:t>
            </a:r>
          </a:p>
        </p:txBody>
      </p:sp>
      <p:sp>
        <p:nvSpPr>
          <p:cNvPr id="36" name="b1_9"/>
          <p:cNvSpPr txBox="1"/>
          <p:nvPr/>
        </p:nvSpPr>
        <p:spPr>
          <a:xfrm>
            <a:off x="8086862" y="206947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EDF1F3"/>
                </a:solidFill>
                <a:latin typeface="Segoe UI"/>
              </a:rPr>
              <a:t>cirurgia</a:t>
            </a:r>
          </a:p>
        </p:txBody>
      </p:sp>
      <p:sp>
        <p:nvSpPr>
          <p:cNvPr id="37" name="b2_0"/>
          <p:cNvSpPr/>
          <p:nvPr/>
        </p:nvSpPr>
        <p:spPr>
          <a:xfrm>
            <a:off x="777240" y="5897880"/>
            <a:ext cx="137160" cy="137160"/>
          </a:xfrm>
          <a:prstGeom prst="ellipse">
            <a:avLst/>
          </a:prstGeom>
          <a:solidFill>
            <a:srgbClr val="2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2_0"/>
          <p:cNvSpPr txBox="1"/>
          <p:nvPr/>
        </p:nvSpPr>
        <p:spPr>
          <a:xfrm>
            <a:off x="1014983" y="587044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resolvido</a:t>
            </a:r>
          </a:p>
        </p:txBody>
      </p:sp>
      <p:sp>
        <p:nvSpPr>
          <p:cNvPr id="39" name="b2_0"/>
          <p:cNvSpPr/>
          <p:nvPr/>
        </p:nvSpPr>
        <p:spPr>
          <a:xfrm>
            <a:off x="2194560" y="5897880"/>
            <a:ext cx="137160" cy="137160"/>
          </a:xfrm>
          <a:prstGeom prst="ellipse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2_0"/>
          <p:cNvSpPr txBox="1"/>
          <p:nvPr/>
        </p:nvSpPr>
        <p:spPr>
          <a:xfrm>
            <a:off x="2432304" y="587044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parcial</a:t>
            </a:r>
          </a:p>
        </p:txBody>
      </p:sp>
      <p:sp>
        <p:nvSpPr>
          <p:cNvPr id="41" name="b2_0"/>
          <p:cNvSpPr/>
          <p:nvPr/>
        </p:nvSpPr>
        <p:spPr>
          <a:xfrm>
            <a:off x="3611880" y="5897880"/>
            <a:ext cx="137160" cy="137160"/>
          </a:xfrm>
          <a:prstGeom prst="ellipse">
            <a:avLst/>
          </a:prstGeom>
          <a:solidFill>
            <a:srgbClr val="F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2_0"/>
          <p:cNvSpPr txBox="1"/>
          <p:nvPr/>
        </p:nvSpPr>
        <p:spPr>
          <a:xfrm>
            <a:off x="3849624" y="587044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9A4AD"/>
                </a:solidFill>
                <a:latin typeface="Segoe UI"/>
              </a:rPr>
              <a:t>não resolvido</a:t>
            </a:r>
          </a:p>
        </p:txBody>
      </p:sp>
      <p:sp>
        <p:nvSpPr>
          <p:cNvPr id="43" name="b2_0"/>
          <p:cNvSpPr txBox="1"/>
          <p:nvPr/>
        </p:nvSpPr>
        <p:spPr>
          <a:xfrm>
            <a:off x="5669280" y="5888736"/>
            <a:ext cx="574517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CADA NÚMERO É A TAREFA CORRESPONDENTE DA QUESTÃO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19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Três leituras do mapa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/>
          <p:nvPr/>
        </p:nvSpPr>
        <p:spPr>
          <a:xfrm>
            <a:off x="777240" y="1828800"/>
            <a:ext cx="3362858" cy="2468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_0"/>
          <p:cNvSpPr/>
          <p:nvPr/>
        </p:nvSpPr>
        <p:spPr>
          <a:xfrm>
            <a:off x="777240" y="1828800"/>
            <a:ext cx="3362858" cy="36576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1_0"/>
          <p:cNvSpPr txBox="1"/>
          <p:nvPr/>
        </p:nvSpPr>
        <p:spPr>
          <a:xfrm>
            <a:off x="1143000" y="2103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CDFF4F"/>
                </a:solidFill>
                <a:latin typeface="Consolas"/>
              </a:rPr>
              <a:t>01</a:t>
            </a:r>
          </a:p>
        </p:txBody>
      </p:sp>
      <p:sp>
        <p:nvSpPr>
          <p:cNvPr id="8" name="b1_0"/>
          <p:cNvSpPr txBox="1"/>
          <p:nvPr/>
        </p:nvSpPr>
        <p:spPr>
          <a:xfrm>
            <a:off x="1143000" y="2651760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DF1F3"/>
                </a:solidFill>
                <a:latin typeface="Bahnschrift SemiBold"/>
              </a:rPr>
              <a:t>Ambiente fechado</a:t>
            </a:r>
          </a:p>
        </p:txBody>
      </p:sp>
      <p:sp>
        <p:nvSpPr>
          <p:cNvPr id="9" name="b1_0"/>
          <p:cNvSpPr txBox="1"/>
          <p:nvPr/>
        </p:nvSpPr>
        <p:spPr>
          <a:xfrm>
            <a:off x="1143000" y="3063240"/>
            <a:ext cx="263133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O que está resolvido fica à esquerda: regra explícita e sinal de acerto barato, como a bola que quica ou o compilador do Lean.</a:t>
            </a:r>
          </a:p>
        </p:txBody>
      </p:sp>
      <p:sp>
        <p:nvSpPr>
          <p:cNvPr id="10" name="b2_0"/>
          <p:cNvSpPr/>
          <p:nvPr/>
        </p:nvSpPr>
        <p:spPr>
          <a:xfrm>
            <a:off x="4414418" y="1828800"/>
            <a:ext cx="3362858" cy="2468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2_0"/>
          <p:cNvSpPr/>
          <p:nvPr/>
        </p:nvSpPr>
        <p:spPr>
          <a:xfrm>
            <a:off x="4414418" y="1828800"/>
            <a:ext cx="3362858" cy="36576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2_0"/>
          <p:cNvSpPr txBox="1"/>
          <p:nvPr/>
        </p:nvSpPr>
        <p:spPr>
          <a:xfrm>
            <a:off x="4780178" y="2103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CDFF4F"/>
                </a:solidFill>
                <a:latin typeface="Consolas"/>
              </a:rPr>
              <a:t>02</a:t>
            </a:r>
          </a:p>
        </p:txBody>
      </p:sp>
      <p:sp>
        <p:nvSpPr>
          <p:cNvPr id="13" name="b2_0"/>
          <p:cNvSpPr txBox="1"/>
          <p:nvPr/>
        </p:nvSpPr>
        <p:spPr>
          <a:xfrm>
            <a:off x="4780178" y="2651760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DF1F3"/>
                </a:solidFill>
                <a:latin typeface="Bahnschrift SemiBold"/>
              </a:rPr>
              <a:t>Falta corpo, não raciocínio</a:t>
            </a:r>
          </a:p>
        </p:txBody>
      </p:sp>
      <p:sp>
        <p:nvSpPr>
          <p:cNvPr id="14" name="b2_0"/>
          <p:cNvSpPr txBox="1"/>
          <p:nvPr/>
        </p:nvSpPr>
        <p:spPr>
          <a:xfrm>
            <a:off x="4780178" y="3063240"/>
            <a:ext cx="263133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O que está aberto à direita depende de perceber e manipular um mundo que não foi arrumado para a máquina. É o paradoxo de Moravec.</a:t>
            </a:r>
          </a:p>
        </p:txBody>
      </p:sp>
      <p:sp>
        <p:nvSpPr>
          <p:cNvPr id="15" name="b3_0"/>
          <p:cNvSpPr/>
          <p:nvPr/>
        </p:nvSpPr>
        <p:spPr>
          <a:xfrm>
            <a:off x="8051596" y="1828800"/>
            <a:ext cx="3362858" cy="2468880"/>
          </a:xfrm>
          <a:prstGeom prst="rect">
            <a:avLst/>
          </a:prstGeom>
          <a:solidFill>
            <a:srgbClr val="13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3_0"/>
          <p:cNvSpPr/>
          <p:nvPr/>
        </p:nvSpPr>
        <p:spPr>
          <a:xfrm>
            <a:off x="8051596" y="1828800"/>
            <a:ext cx="3362858" cy="36576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3_0"/>
          <p:cNvSpPr txBox="1"/>
          <p:nvPr/>
        </p:nvSpPr>
        <p:spPr>
          <a:xfrm>
            <a:off x="8417356" y="2103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CDFF4F"/>
                </a:solidFill>
                <a:latin typeface="Consolas"/>
              </a:rPr>
              <a:t>03</a:t>
            </a:r>
          </a:p>
        </p:txBody>
      </p:sp>
      <p:sp>
        <p:nvSpPr>
          <p:cNvPr id="18" name="b3_0"/>
          <p:cNvSpPr txBox="1"/>
          <p:nvPr/>
        </p:nvSpPr>
        <p:spPr>
          <a:xfrm>
            <a:off x="8417356" y="2651760"/>
            <a:ext cx="263133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DF1F3"/>
                </a:solidFill>
                <a:latin typeface="Bahnschrift SemiBold"/>
              </a:rPr>
              <a:t>O custo do erro cobra prova</a:t>
            </a:r>
          </a:p>
        </p:txBody>
      </p:sp>
      <p:sp>
        <p:nvSpPr>
          <p:cNvPr id="19" name="b3_0"/>
          <p:cNvSpPr txBox="1"/>
          <p:nvPr/>
        </p:nvSpPr>
        <p:spPr>
          <a:xfrm>
            <a:off x="8417356" y="3063240"/>
            <a:ext cx="263133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9A4AD"/>
                </a:solidFill>
                <a:latin typeface="Segoe UI"/>
              </a:rPr>
              <a:t>Subir no eixo vertical não muda a dificuldade técnica, muda a exigência de lei, seguro e responsabilidade. Por isso dirigir e operar atrasam.</a:t>
            </a:r>
          </a:p>
        </p:txBody>
      </p:sp>
      <p:sp>
        <p:nvSpPr>
          <p:cNvPr id="20" name="b4_0"/>
          <p:cNvSpPr/>
          <p:nvPr/>
        </p:nvSpPr>
        <p:spPr>
          <a:xfrm>
            <a:off x="777240" y="4709160"/>
            <a:ext cx="45720" cy="1005840"/>
          </a:xfrm>
          <a:prstGeom prst="rect">
            <a:avLst/>
          </a:prstGeom>
          <a:solidFill>
            <a:srgbClr val="CDF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4_0"/>
          <p:cNvSpPr txBox="1"/>
          <p:nvPr/>
        </p:nvSpPr>
        <p:spPr>
          <a:xfrm>
            <a:off x="1188720" y="4800600"/>
            <a:ext cx="98142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EDF1F3"/>
                </a:solidFill>
                <a:latin typeface="Bahnschrift SemiBold"/>
              </a:rPr>
              <a:t>Em 2026 a fronteira da IA não está mais no raciocínio abstrato, que já rende teorema novo, e sim em agir de forma confiável em ambiente aberto quando o erro custa caro.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20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3035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CDFF4F"/>
                </a:solidFill>
                <a:latin typeface="Consolas"/>
              </a:rPr>
              <a:t>APÊNDICE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68096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EDF1F3"/>
                </a:solidFill>
                <a:latin typeface="Bahnschrift SemiBold"/>
              </a:rPr>
              <a:t>Referências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389888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1_0"/>
          <p:cNvSpPr txBox="1"/>
          <p:nvPr/>
        </p:nvSpPr>
        <p:spPr>
          <a:xfrm>
            <a:off x="777240" y="17830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RUSSELL, S.; NORVIG, P. Inteligência Artificial: uma abordagem moderna. 4. ed., 2022.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SONY AI. Outplaying elite table tennis players with an autonomous robot. Nature, 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GOOGLE DEEPMIND. Achieving Human Level Competitive Robot Table Tennis, 2024.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WAYMO amplia cobertura para 11 cidades. Electrek, 13/05/2026.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CÂMARA DOS DEPUTADOS. PL 1317/2023, regras para veículos autônomos.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COMMERCETOOLS. Agentic Commerce Stats 2026 (eMarketer, Bain, J.P. Morgan).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SHOPPER: Practical Insights on Grasp Strategies for Mobile Manipulation in the Wild. arXiv:2504.12512, 2025.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A Complete Grocery Pick-and-Pack Application. Sensors, v. 26, n. 9, 2026.</a:t>
            </a:r>
          </a:p>
        </p:txBody>
      </p:sp>
      <p:sp>
        <p:nvSpPr>
          <p:cNvPr id="6" name="b1_1"/>
          <p:cNvSpPr txBox="1"/>
          <p:nvPr/>
        </p:nvSpPr>
        <p:spPr>
          <a:xfrm>
            <a:off x="6355080" y="17830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GOOGLE DEEPMIND. AlphaProof Nexus. arXiv:2605.22763, 21/05/2026.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ALON, N.; GOWERS, W. T. et al. Remarks on the disproof of the unit distance conjecture. arXiv:2605.20695, 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JONES, C. R.; BERGEN, B. K. Large language models pass a standard three-party Turing test. PNAS, 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KIM, J. W. et al. SRT-H: hierarchical framework for autonomous surgery. Science Robotics, 09/07/2025.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PHYSICAL INTELLIGENCE. π0.5: a VLA with open-world generalization, 2025.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FIGURE AI. Helix Learns to Fold Laundry, 2025. FORTUNE, 1X NEO, 26/02/2026.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IWSLT 2026: panorama de tradução de fala em tempo real.</a:t>
            </a:r>
          </a:p>
          <a:p>
            <a:pPr marL="201168" indent="-201168" algn="l">
              <a:lnSpc>
                <a:spcPct val="130000"/>
              </a:lnSpc>
              <a:spcAft>
                <a:spcPts val="1100"/>
              </a:spcAft>
            </a:pPr>
            <a:r>
              <a:rPr sz="1000" b="1">
                <a:solidFill>
                  <a:srgbClr val="CDFF4F"/>
                </a:solidFill>
                <a:latin typeface="Segoe UI"/>
              </a:rPr>
              <a:t>·  </a:t>
            </a:r>
            <a:r>
              <a:rPr sz="1000" b="0" i="0">
                <a:solidFill>
                  <a:srgbClr val="99A4AD"/>
                </a:solidFill>
                <a:latin typeface="Segoe UI"/>
              </a:rPr>
              <a:t>GORENZ, D.; SCHWARZ, N. How funny is ChatGPT? PLOS ONE, 2024.</a:t>
            </a:r>
          </a:p>
        </p:txBody>
      </p:sp>
      <p:cxnSp>
        <p:nvCxnSpPr>
          <p:cNvPr id="7" name="b2_0"/>
          <p:cNvCxnSpPr/>
          <p:nvPr/>
        </p:nvCxnSpPr>
        <p:spPr>
          <a:xfrm>
            <a:off x="777240" y="5760720"/>
            <a:ext cx="10637215" cy="0"/>
          </a:xfrm>
          <a:prstGeom prst="line">
            <a:avLst/>
          </a:prstGeom>
          <a:ln w="9525">
            <a:solidFill>
              <a:srgbClr val="262C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2_0"/>
          <p:cNvSpPr txBox="1"/>
          <p:nvPr/>
        </p:nvSpPr>
        <p:spPr>
          <a:xfrm>
            <a:off x="777240" y="589788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F6A73"/>
                </a:solidFill>
                <a:latin typeface="Segoe UI"/>
              </a:rPr>
              <a:t>As datas de superação são estimativas próprias, a partir do ritmo relatado nas fontes e do tipo de obstáculo de cada tarefa.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5F6A73"/>
                </a:solidFill>
                <a:latin typeface="Consolas"/>
              </a:rPr>
              <a:t>FURB · INTELIGÊNCIA ARTIFICIAL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5F6A73"/>
                </a:solidFill>
                <a:latin typeface="Consolas"/>
              </a:rPr>
              <a:t>21 /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3036</Words>
  <Application>Microsoft Office PowerPoint</Application>
  <PresentationFormat>Widescreen</PresentationFormat>
  <Paragraphs>351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Bahnschrift SemiBold</vt:lpstr>
      <vt:lpstr>Calibri</vt:lpstr>
      <vt:lpstr>Consolas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Alegria Fiamoncini</cp:lastModifiedBy>
  <cp:revision>2</cp:revision>
  <dcterms:created xsi:type="dcterms:W3CDTF">2013-01-27T09:14:16Z</dcterms:created>
  <dcterms:modified xsi:type="dcterms:W3CDTF">2026-08-21T13:12:15Z</dcterms:modified>
  <cp:category/>
</cp:coreProperties>
</file>