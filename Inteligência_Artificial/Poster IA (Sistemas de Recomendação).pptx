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61" autoAdjust="0"/>
  </p:normalViewPr>
  <p:slideViewPr>
    <p:cSldViewPr snapToGrid="0">
      <p:cViewPr>
        <p:scale>
          <a:sx n="40" d="100"/>
          <a:sy n="40" d="100"/>
        </p:scale>
        <p:origin x="756" y="-3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>
            <a:extLst>
              <a:ext uri="{FF2B5EF4-FFF2-40B4-BE49-F238E27FC236}">
                <a16:creationId xmlns:a16="http://schemas.microsoft.com/office/drawing/2014/main" id="{314957A4-0595-4D1E-98E8-4113E257B3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30463" y="13422313"/>
            <a:ext cx="27543125" cy="925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>
            <a:extLst>
              <a:ext uri="{FF2B5EF4-FFF2-40B4-BE49-F238E27FC236}">
                <a16:creationId xmlns:a16="http://schemas.microsoft.com/office/drawing/2014/main" id="{4A54C5AA-7B8C-49E5-8E25-8E7D766762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60925" y="24482425"/>
            <a:ext cx="22682200" cy="1104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None/>
              <a:defRPr/>
            </a:lvl1pPr>
            <a:lvl2pPr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None/>
              <a:defRPr/>
            </a:lvl2pPr>
            <a:lvl3pPr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None/>
              <a:defRPr/>
            </a:lvl3pPr>
            <a:lvl4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4pPr>
            <a:lvl5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5pPr>
            <a:lvl6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6pPr>
            <a:lvl7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7pPr>
            <a:lvl8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8pPr>
            <a:lvl9pPr algn="ctr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>
            <a:extLst>
              <a:ext uri="{FF2B5EF4-FFF2-40B4-BE49-F238E27FC236}">
                <a16:creationId xmlns:a16="http://schemas.microsoft.com/office/drawing/2014/main" id="{1DC60715-13D5-4BA4-8486-A352E7DD94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>
            <a:extLst>
              <a:ext uri="{FF2B5EF4-FFF2-40B4-BE49-F238E27FC236}">
                <a16:creationId xmlns:a16="http://schemas.microsoft.com/office/drawing/2014/main" id="{1D214684-5093-422E-91FD-41CF2CB17CF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>
            <a:extLst>
              <a:ext uri="{FF2B5EF4-FFF2-40B4-BE49-F238E27FC236}">
                <a16:creationId xmlns:a16="http://schemas.microsoft.com/office/drawing/2014/main" id="{CA7324A1-F2D2-44CB-A097-2FBBAC77B8A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>
            <a:extLst>
              <a:ext uri="{FF2B5EF4-FFF2-40B4-BE49-F238E27FC236}">
                <a16:creationId xmlns:a16="http://schemas.microsoft.com/office/drawing/2014/main" id="{A534679C-8B4D-4E72-BFF8-2EB80471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>
            <a:extLst>
              <a:ext uri="{FF2B5EF4-FFF2-40B4-BE49-F238E27FC236}">
                <a16:creationId xmlns:a16="http://schemas.microsoft.com/office/drawing/2014/main" id="{6E3E038C-6F85-4F84-A414-6B31D4719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>
            <a:extLst>
              <a:ext uri="{FF2B5EF4-FFF2-40B4-BE49-F238E27FC236}">
                <a16:creationId xmlns:a16="http://schemas.microsoft.com/office/drawing/2014/main" id="{B89AE366-D55E-44F6-A280-DC4E04FC7B9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>
            <a:extLst>
              <a:ext uri="{FF2B5EF4-FFF2-40B4-BE49-F238E27FC236}">
                <a16:creationId xmlns:a16="http://schemas.microsoft.com/office/drawing/2014/main" id="{5EA23BB9-8247-4A83-B902-10B98B67BC1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>
            <a:extLst>
              <a:ext uri="{FF2B5EF4-FFF2-40B4-BE49-F238E27FC236}">
                <a16:creationId xmlns:a16="http://schemas.microsoft.com/office/drawing/2014/main" id="{871F9EA2-FD93-4408-896E-A113D26EE39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>
            <a:extLst>
              <a:ext uri="{FF2B5EF4-FFF2-40B4-BE49-F238E27FC236}">
                <a16:creationId xmlns:a16="http://schemas.microsoft.com/office/drawing/2014/main" id="{66C52F8B-706D-440E-B54E-75188D4DC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050" y="27763788"/>
            <a:ext cx="27544713" cy="858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>
            <a:extLst>
              <a:ext uri="{FF2B5EF4-FFF2-40B4-BE49-F238E27FC236}">
                <a16:creationId xmlns:a16="http://schemas.microsoft.com/office/drawing/2014/main" id="{1119C3F2-9239-4727-ACFF-130315296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59050" y="18311813"/>
            <a:ext cx="27544713" cy="945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5">
            <a:extLst>
              <a:ext uri="{FF2B5EF4-FFF2-40B4-BE49-F238E27FC236}">
                <a16:creationId xmlns:a16="http://schemas.microsoft.com/office/drawing/2014/main" id="{6261760E-A26A-4D79-ACE0-1C14228729F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>
            <a:extLst>
              <a:ext uri="{FF2B5EF4-FFF2-40B4-BE49-F238E27FC236}">
                <a16:creationId xmlns:a16="http://schemas.microsoft.com/office/drawing/2014/main" id="{77BC0B94-DFF2-4BF5-AE6D-F3124DF3711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>
            <a:extLst>
              <a:ext uri="{FF2B5EF4-FFF2-40B4-BE49-F238E27FC236}">
                <a16:creationId xmlns:a16="http://schemas.microsoft.com/office/drawing/2014/main" id="{E8C18EFC-B3AC-4791-8DC0-6C4665E9253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>
            <a:extLst>
              <a:ext uri="{FF2B5EF4-FFF2-40B4-BE49-F238E27FC236}">
                <a16:creationId xmlns:a16="http://schemas.microsoft.com/office/drawing/2014/main" id="{4BE80C89-43DB-45F5-9F74-9CA2A5F4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>
            <a:extLst>
              <a:ext uri="{FF2B5EF4-FFF2-40B4-BE49-F238E27FC236}">
                <a16:creationId xmlns:a16="http://schemas.microsoft.com/office/drawing/2014/main" id="{F28A4B7E-D9B8-4219-B05D-02847B0A3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838" y="10080625"/>
            <a:ext cx="14504987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6">
            <a:extLst>
              <a:ext uri="{FF2B5EF4-FFF2-40B4-BE49-F238E27FC236}">
                <a16:creationId xmlns:a16="http://schemas.microsoft.com/office/drawing/2014/main" id="{B964A143-B739-4D3F-BB11-B4AED4BA075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278225" y="10080625"/>
            <a:ext cx="14504988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6">
            <a:extLst>
              <a:ext uri="{FF2B5EF4-FFF2-40B4-BE49-F238E27FC236}">
                <a16:creationId xmlns:a16="http://schemas.microsoft.com/office/drawing/2014/main" id="{685D4144-7B0E-40C1-B897-12D1ED80372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>
            <a:extLst>
              <a:ext uri="{FF2B5EF4-FFF2-40B4-BE49-F238E27FC236}">
                <a16:creationId xmlns:a16="http://schemas.microsoft.com/office/drawing/2014/main" id="{62660512-9486-4FD8-A898-271B1926325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>
            <a:extLst>
              <a:ext uri="{FF2B5EF4-FFF2-40B4-BE49-F238E27FC236}">
                <a16:creationId xmlns:a16="http://schemas.microsoft.com/office/drawing/2014/main" id="{6EFE0851-E4EB-4E91-93D4-AF419BCE4E0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>
            <a:extLst>
              <a:ext uri="{FF2B5EF4-FFF2-40B4-BE49-F238E27FC236}">
                <a16:creationId xmlns:a16="http://schemas.microsoft.com/office/drawing/2014/main" id="{F9ADCA16-8827-4505-BD8F-ACC1C4D2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>
            <a:extLst>
              <a:ext uri="{FF2B5EF4-FFF2-40B4-BE49-F238E27FC236}">
                <a16:creationId xmlns:a16="http://schemas.microsoft.com/office/drawing/2014/main" id="{22E041FD-D2FB-4A3A-847D-AA97533F3B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838" y="9671050"/>
            <a:ext cx="14316075" cy="403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>
            <a:extLst>
              <a:ext uri="{FF2B5EF4-FFF2-40B4-BE49-F238E27FC236}">
                <a16:creationId xmlns:a16="http://schemas.microsoft.com/office/drawing/2014/main" id="{7DD8441D-573A-48AF-B77B-F358C493DC8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20838" y="13701713"/>
            <a:ext cx="14316075" cy="2489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7">
            <a:extLst>
              <a:ext uri="{FF2B5EF4-FFF2-40B4-BE49-F238E27FC236}">
                <a16:creationId xmlns:a16="http://schemas.microsoft.com/office/drawing/2014/main" id="{D47DC32B-7DF8-48A3-B732-73D2A2FFBFB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460788" y="9671050"/>
            <a:ext cx="14322425" cy="4030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b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>
            <a:extLst>
              <a:ext uri="{FF2B5EF4-FFF2-40B4-BE49-F238E27FC236}">
                <a16:creationId xmlns:a16="http://schemas.microsoft.com/office/drawing/2014/main" id="{56A20E1A-B70F-4C8B-9122-5CA8DAC89A0A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6460788" y="13701713"/>
            <a:ext cx="14322425" cy="24893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7">
            <a:extLst>
              <a:ext uri="{FF2B5EF4-FFF2-40B4-BE49-F238E27FC236}">
                <a16:creationId xmlns:a16="http://schemas.microsoft.com/office/drawing/2014/main" id="{D063A2C9-A211-4D25-BFBE-D654716878B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>
            <a:extLst>
              <a:ext uri="{FF2B5EF4-FFF2-40B4-BE49-F238E27FC236}">
                <a16:creationId xmlns:a16="http://schemas.microsoft.com/office/drawing/2014/main" id="{77511086-4525-477B-8CB7-CD1B441F90D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>
            <a:extLst>
              <a:ext uri="{FF2B5EF4-FFF2-40B4-BE49-F238E27FC236}">
                <a16:creationId xmlns:a16="http://schemas.microsoft.com/office/drawing/2014/main" id="{A377CBAB-CE87-4DFF-A463-14C6458BD9D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>
            <a:extLst>
              <a:ext uri="{FF2B5EF4-FFF2-40B4-BE49-F238E27FC236}">
                <a16:creationId xmlns:a16="http://schemas.microsoft.com/office/drawing/2014/main" id="{FA3AFAAF-540B-434A-8908-8CBB7A587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>
            <a:extLst>
              <a:ext uri="{FF2B5EF4-FFF2-40B4-BE49-F238E27FC236}">
                <a16:creationId xmlns:a16="http://schemas.microsoft.com/office/drawing/2014/main" id="{0803C92E-2B1B-4901-8C0F-0BF8A8B9CBD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>
            <a:extLst>
              <a:ext uri="{FF2B5EF4-FFF2-40B4-BE49-F238E27FC236}">
                <a16:creationId xmlns:a16="http://schemas.microsoft.com/office/drawing/2014/main" id="{32929122-352C-4F07-B7C8-FC8256BEBB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>
            <a:extLst>
              <a:ext uri="{FF2B5EF4-FFF2-40B4-BE49-F238E27FC236}">
                <a16:creationId xmlns:a16="http://schemas.microsoft.com/office/drawing/2014/main" id="{63A7EBBD-74FB-4425-A50C-722E0E057CE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842208E2-41C3-4F6B-B307-C328C3313A83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>
            <a:extLst>
              <a:ext uri="{FF2B5EF4-FFF2-40B4-BE49-F238E27FC236}">
                <a16:creationId xmlns:a16="http://schemas.microsoft.com/office/drawing/2014/main" id="{7BDD8F27-92AA-4313-8F82-78CF24D7F971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>
            <a:extLst>
              <a:ext uri="{FF2B5EF4-FFF2-40B4-BE49-F238E27FC236}">
                <a16:creationId xmlns:a16="http://schemas.microsoft.com/office/drawing/2014/main" id="{FFF151F1-B387-4B6C-B51E-563E939B6C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>
            <a:extLst>
              <a:ext uri="{FF2B5EF4-FFF2-40B4-BE49-F238E27FC236}">
                <a16:creationId xmlns:a16="http://schemas.microsoft.com/office/drawing/2014/main" id="{1D5A0905-852A-4B4D-9783-16E3533A1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20850"/>
            <a:ext cx="10660062" cy="7319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>
            <a:extLst>
              <a:ext uri="{FF2B5EF4-FFF2-40B4-BE49-F238E27FC236}">
                <a16:creationId xmlns:a16="http://schemas.microsoft.com/office/drawing/2014/main" id="{1C30C07A-F53B-4BE9-941D-6DB4D2F1F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69838" y="1720850"/>
            <a:ext cx="18113375" cy="3687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10">
            <a:extLst>
              <a:ext uri="{FF2B5EF4-FFF2-40B4-BE49-F238E27FC236}">
                <a16:creationId xmlns:a16="http://schemas.microsoft.com/office/drawing/2014/main" id="{5F1C7C41-08F2-4B30-ADD7-73BCCF029AB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620838" y="9040813"/>
            <a:ext cx="10660062" cy="2955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>
            <a:extLst>
              <a:ext uri="{FF2B5EF4-FFF2-40B4-BE49-F238E27FC236}">
                <a16:creationId xmlns:a16="http://schemas.microsoft.com/office/drawing/2014/main" id="{108E4F3F-C1A0-4EC7-A36E-6F7A56823B5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>
            <a:extLst>
              <a:ext uri="{FF2B5EF4-FFF2-40B4-BE49-F238E27FC236}">
                <a16:creationId xmlns:a16="http://schemas.microsoft.com/office/drawing/2014/main" id="{61B2ABC1-F9A2-4C0D-90BD-291CF702CCD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>
            <a:extLst>
              <a:ext uri="{FF2B5EF4-FFF2-40B4-BE49-F238E27FC236}">
                <a16:creationId xmlns:a16="http://schemas.microsoft.com/office/drawing/2014/main" id="{0FA115F6-6544-4978-9053-8A46BCD86B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>
            <a:extLst>
              <a:ext uri="{FF2B5EF4-FFF2-40B4-BE49-F238E27FC236}">
                <a16:creationId xmlns:a16="http://schemas.microsoft.com/office/drawing/2014/main" id="{01D80870-D910-44B3-AB1C-CAA640CE31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1588" y="30243463"/>
            <a:ext cx="19442112" cy="357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>
            <a:extLst>
              <a:ext uri="{FF2B5EF4-FFF2-40B4-BE49-F238E27FC236}">
                <a16:creationId xmlns:a16="http://schemas.microsoft.com/office/drawing/2014/main" id="{5B22920D-5DD7-4550-8900-EAFE3A80ED5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351588" y="3860800"/>
            <a:ext cx="19442112" cy="25922288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>
            <a:extLst>
              <a:ext uri="{FF2B5EF4-FFF2-40B4-BE49-F238E27FC236}">
                <a16:creationId xmlns:a16="http://schemas.microsoft.com/office/drawing/2014/main" id="{1789A11B-4A96-454B-8679-E1C911CD2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51588" y="33813750"/>
            <a:ext cx="19442112" cy="507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>
            <a:extLst>
              <a:ext uri="{FF2B5EF4-FFF2-40B4-BE49-F238E27FC236}">
                <a16:creationId xmlns:a16="http://schemas.microsoft.com/office/drawing/2014/main" id="{8422367B-D644-46D9-B804-F084B725A37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>
            <a:extLst>
              <a:ext uri="{FF2B5EF4-FFF2-40B4-BE49-F238E27FC236}">
                <a16:creationId xmlns:a16="http://schemas.microsoft.com/office/drawing/2014/main" id="{A5E6C4C0-1207-420F-9265-4D009CACF0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>
            <a:extLst>
              <a:ext uri="{FF2B5EF4-FFF2-40B4-BE49-F238E27FC236}">
                <a16:creationId xmlns:a16="http://schemas.microsoft.com/office/drawing/2014/main" id="{71835B67-1C97-433C-B1BB-3B0B1A3EE5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>
            <a:extLst>
              <a:ext uri="{FF2B5EF4-FFF2-40B4-BE49-F238E27FC236}">
                <a16:creationId xmlns:a16="http://schemas.microsoft.com/office/drawing/2014/main" id="{CA55277D-6A88-4666-94AD-06C8ECB98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>
            <a:extLst>
              <a:ext uri="{FF2B5EF4-FFF2-40B4-BE49-F238E27FC236}">
                <a16:creationId xmlns:a16="http://schemas.microsoft.com/office/drawing/2014/main" id="{93900EF7-DB79-4B20-84CC-77013C2B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1944688" y="9756775"/>
            <a:ext cx="28514675" cy="29162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>
            <a:extLst>
              <a:ext uri="{FF2B5EF4-FFF2-40B4-BE49-F238E27FC236}">
                <a16:creationId xmlns:a16="http://schemas.microsoft.com/office/drawing/2014/main" id="{3FD2D290-84A6-43DC-8EE4-D69211E963C6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>
            <a:extLst>
              <a:ext uri="{FF2B5EF4-FFF2-40B4-BE49-F238E27FC236}">
                <a16:creationId xmlns:a16="http://schemas.microsoft.com/office/drawing/2014/main" id="{CC4A5A4B-39AA-42DF-999D-789F2216BC55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>
            <a:extLst>
              <a:ext uri="{FF2B5EF4-FFF2-40B4-BE49-F238E27FC236}">
                <a16:creationId xmlns:a16="http://schemas.microsoft.com/office/drawing/2014/main" id="{D4CB335B-F984-4745-890F-AD040D1307E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9609A83A-64F5-46A1-8B75-3ED4A17C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5400000">
            <a:off x="8705851" y="16517938"/>
            <a:ext cx="36864925" cy="72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581E5935-90C9-4B47-A832-45D5BF1AA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5400000">
            <a:off x="-5951537" y="9302750"/>
            <a:ext cx="36864925" cy="2172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C321147B-72FE-42F3-886D-E66A0E5506D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76EA4B45-F4AC-42AB-A3F7-FCD58F5BEA2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B90585C9-E947-4016-BEEA-740B0143095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0890A9C-FF11-4547-906D-202C21D3D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838" y="1730375"/>
            <a:ext cx="29162375" cy="72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ctr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800" b="0" i="0" u="none" cap="none">
                <a:solidFill>
                  <a:schemeClr val="dk2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1B5B1190-E440-4547-B4B4-D1995F8A6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838" y="10080625"/>
            <a:ext cx="29162375" cy="2851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457200" marR="0" indent="-118745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sz="15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10668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sz="1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94615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sz="11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83185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»"/>
              <a:defRPr sz="9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3AFE4611-5EFE-4238-802F-2CAE0C6A5D4E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16208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3" name="Google Shape;13;p2">
            <a:extLst>
              <a:ext uri="{FF2B5EF4-FFF2-40B4-BE49-F238E27FC236}">
                <a16:creationId xmlns:a16="http://schemas.microsoft.com/office/drawing/2014/main" id="{76F50F89-90B5-48EC-9685-08CF3329BB6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1071225" y="39344600"/>
            <a:ext cx="10261600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endParaRPr/>
          </a:p>
        </p:txBody>
      </p:sp>
      <p:sp>
        <p:nvSpPr>
          <p:cNvPr id="14" name="Google Shape;14;p2">
            <a:extLst>
              <a:ext uri="{FF2B5EF4-FFF2-40B4-BE49-F238E27FC236}">
                <a16:creationId xmlns:a16="http://schemas.microsoft.com/office/drawing/2014/main" id="{477C8D36-A0A0-4B62-AC05-11A3F3D79C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23223538" y="39344600"/>
            <a:ext cx="7559675" cy="300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1875" tIns="215925" rIns="431875" bIns="215925" anchor="t">
            <a:noAutofit/>
          </a:bodyPr>
          <a:lstStyle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 sz="6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>
            <a:alpha val="8862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5;p1">
            <a:extLst>
              <a:ext uri="{FF2B5EF4-FFF2-40B4-BE49-F238E27FC236}">
                <a16:creationId xmlns:a16="http://schemas.microsoft.com/office/drawing/2014/main" id="{9521F713-62B6-BD30-1A9C-59778E12C7D6}"/>
              </a:ext>
            </a:extLst>
          </p:cNvPr>
          <p:cNvSpPr>
            <a:spLocks noGrp="1"/>
          </p:cNvSpPr>
          <p:nvPr/>
        </p:nvSpPr>
        <p:spPr>
          <a:xfrm>
            <a:off x="519774" y="626775"/>
            <a:ext cx="31301345" cy="2422358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 dirty="0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SEMINÁRIO </a:t>
            </a:r>
          </a:p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 dirty="0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INTELIGÊNCIA ARTIFICIAL</a:t>
            </a:r>
            <a:endParaRPr sz="1400" b="0" i="0" u="none" cap="none" dirty="0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C9D278F3-2E90-458D-9410-500CC6C241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3182112"/>
            <a:ext cx="31080456" cy="209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7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SISTEMAS DE RECOMENDAÇÃO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7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TwHIN</a:t>
            </a:r>
            <a:r>
              <a:rPr sz="47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: Embedding the Twitter Heterogeneous Information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7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Network for Personalized Recommendation</a:t>
            </a:r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11CF0C99-694E-4A46-9240-3627EBCAE0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65CB2F05-942D-421A-8525-CAF2B3DA66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8D7D14D7-B73E-4E99-81A6-4A74895743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3" name="Google Shape;93;p1">
            <a:extLst>
              <a:ext uri="{FF2B5EF4-FFF2-40B4-BE49-F238E27FC236}">
                <a16:creationId xmlns:a16="http://schemas.microsoft.com/office/drawing/2014/main" id="{04ADA8DC-CF25-4B1D-9B08-5E96F5802A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>
            <a:spAutoFit/>
          </a:bodyPr>
          <a:lstStyle/>
          <a:p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cap="none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Google Shape;94;p1">
            <a:extLst>
              <a:ext uri="{FF2B5EF4-FFF2-40B4-BE49-F238E27FC236}">
                <a16:creationId xmlns:a16="http://schemas.microsoft.com/office/drawing/2014/main" id="{7C404264-2E96-4BF0-8EC0-8B7C2F78861A}"/>
              </a:ext>
            </a:extLst>
          </p:cNvPr>
          <p:cNvSpPr>
            <a:spLocks noGrp="1"/>
          </p:cNvSpPr>
          <p:nvPr/>
        </p:nvSpPr>
        <p:spPr>
          <a:xfrm>
            <a:off x="576072" y="5751576"/>
            <a:ext cx="31089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Síntese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do </a:t>
            </a: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Artigo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Científico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Pesquisado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pelos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1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Acadêmicos</a:t>
            </a:r>
            <a:r>
              <a:rPr sz="3200" b="1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: 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Arthur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Quintino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Egert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, Mateus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Dassoler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Spezia, Pedro Alegria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Fiamoncini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e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Vinícius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Oneda</a:t>
            </a:r>
            <a:endParaRPr sz="3200" b="0" dirty="0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Departamento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de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Sistemas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e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Computação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,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Curso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de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Ciência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da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Computação</a:t>
            </a:r>
            <a:endParaRPr sz="3200" b="0" dirty="0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Universidade</a:t>
            </a:r>
            <a:r>
              <a:rPr sz="3200" b="0" dirty="0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 Regional de Blumenau (FURB) – Blumenau – SC – </a:t>
            </a:r>
            <a:r>
              <a:rPr sz="3200" b="0" dirty="0" err="1">
                <a:solidFill>
                  <a:srgbClr val="000000"/>
                </a:solidFill>
                <a:latin typeface="Arial Rounded MT Bold"/>
                <a:ea typeface="Arial Rounded MT Bold"/>
                <a:cs typeface="Arial Rounded MT Bold"/>
              </a:rPr>
              <a:t>Brasil</a:t>
            </a:r>
            <a:endParaRPr sz="3200" b="0" dirty="0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95" name="Google Shape;95;p1">
            <a:extLst>
              <a:ext uri="{FF2B5EF4-FFF2-40B4-BE49-F238E27FC236}">
                <a16:creationId xmlns:a16="http://schemas.microsoft.com/office/drawing/2014/main" id="{76BF7837-3B8F-4376-8FF4-3422FC10120A}"/>
              </a:ext>
            </a:extLst>
          </p:cNvPr>
          <p:cNvSpPr>
            <a:spLocks noGrp="1"/>
          </p:cNvSpPr>
          <p:nvPr/>
        </p:nvSpPr>
        <p:spPr>
          <a:xfrm>
            <a:off x="1604513" y="14016733"/>
            <a:ext cx="29626800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OBJETIVOS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0EEE9A7B-9BA2-42DC-AED7-EF245470AADC}"/>
              </a:ext>
            </a:extLst>
          </p:cNvPr>
          <p:cNvSpPr>
            <a:spLocks noGrp="1"/>
          </p:cNvSpPr>
          <p:nvPr/>
        </p:nvSpPr>
        <p:spPr>
          <a:xfrm>
            <a:off x="1604512" y="18343256"/>
            <a:ext cx="14168881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Google Shape;97;p1">
            <a:extLst>
              <a:ext uri="{FF2B5EF4-FFF2-40B4-BE49-F238E27FC236}">
                <a16:creationId xmlns:a16="http://schemas.microsoft.com/office/drawing/2014/main" id="{906E45F8-64D7-4672-870D-89DA24B96A6C}"/>
              </a:ext>
            </a:extLst>
          </p:cNvPr>
          <p:cNvSpPr>
            <a:spLocks noGrp="1"/>
          </p:cNvSpPr>
          <p:nvPr/>
        </p:nvSpPr>
        <p:spPr>
          <a:xfrm>
            <a:off x="1255227" y="32244238"/>
            <a:ext cx="29626800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CONCLUSÕES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100" name="Google Shape;100;p1">
            <a:extLst>
              <a:ext uri="{FF2B5EF4-FFF2-40B4-BE49-F238E27FC236}">
                <a16:creationId xmlns:a16="http://schemas.microsoft.com/office/drawing/2014/main" id="{E720498F-07A9-45E1-8C10-B5650C8CC316}"/>
              </a:ext>
            </a:extLst>
          </p:cNvPr>
          <p:cNvSpPr>
            <a:spLocks noGrp="1"/>
          </p:cNvSpPr>
          <p:nvPr/>
        </p:nvSpPr>
        <p:spPr>
          <a:xfrm>
            <a:off x="1472184" y="33668208"/>
            <a:ext cx="29196792" cy="1792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0" marR="0" lvl="0" indent="0" algn="just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TwHIN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combina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diferentes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interações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melhora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geração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candidatos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o ranking.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Relações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com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muitos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dados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ajudam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as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tarefas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que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têm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poucos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exemplos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  <a:endParaRPr sz="3200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  <a:p>
            <a:pPr algn="just">
              <a:lnSpc>
                <a:spcPct val="106000"/>
              </a:lnSpc>
              <a:spcAft>
                <a:spcPts val="0"/>
              </a:spcAft>
              <a:buNone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Novos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nós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exigem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tratamento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adicional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Atualizações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pedem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controle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custo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latência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desvio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dos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resultados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conteúdo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ofensivo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variaram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entre as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duas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coleções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</p:txBody>
      </p:sp>
      <p:sp>
        <p:nvSpPr>
          <p:cNvPr id="101" name="Google Shape;101;p1">
            <a:extLst>
              <a:ext uri="{FF2B5EF4-FFF2-40B4-BE49-F238E27FC236}">
                <a16:creationId xmlns:a16="http://schemas.microsoft.com/office/drawing/2014/main" id="{DE4C2D12-7792-4080-8871-F12EB99FF28D}"/>
              </a:ext>
            </a:extLst>
          </p:cNvPr>
          <p:cNvSpPr>
            <a:spLocks noGrp="1"/>
          </p:cNvSpPr>
          <p:nvPr/>
        </p:nvSpPr>
        <p:spPr>
          <a:xfrm>
            <a:off x="1673352" y="19805904"/>
            <a:ext cx="13917168" cy="470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457200" marR="0" lvl="0" indent="-457200" algn="just">
              <a:lnSpc>
                <a:spcPct val="106000"/>
              </a:lnSpc>
              <a:spcBef>
                <a:spcPts val="0"/>
              </a:spcBef>
              <a:spcAft>
                <a:spcPts val="140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Integra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relações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seguir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perfis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interações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com tweets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anúncios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grafos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heterogêneos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  <a:endParaRPr sz="3200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  <a:p>
            <a:pPr marL="457200" indent="-457200" algn="just">
              <a:lnSpc>
                <a:spcPct val="106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Treina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entidades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relações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com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TransE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amostragem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negativa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PyTorch-BigGraph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partições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  <a:p>
            <a:pPr marL="457200" indent="-457200" algn="just">
              <a:lnSpc>
                <a:spcPct val="106000"/>
              </a:lnSpc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Agrupa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conteúdos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para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representar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vários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interesses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consultar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vizinhos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próximos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cada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usuário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  <a:p>
            <a:pPr marL="457200" indent="-457200" algn="just">
              <a:lnSpc>
                <a:spcPct val="106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Usa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como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atributos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fixos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modelos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ranking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classificação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;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testa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as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aplicações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offline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experimentos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A/B.</a:t>
            </a:r>
          </a:p>
        </p:txBody>
      </p:sp>
      <p:sp>
        <p:nvSpPr>
          <p:cNvPr id="103" name="Google Shape;103;p1">
            <a:extLst>
              <a:ext uri="{FF2B5EF4-FFF2-40B4-BE49-F238E27FC236}">
                <a16:creationId xmlns:a16="http://schemas.microsoft.com/office/drawing/2014/main" id="{5C2F3A55-9D6A-470F-8802-48B271EB4667}"/>
              </a:ext>
            </a:extLst>
          </p:cNvPr>
          <p:cNvSpPr>
            <a:spLocks noGrp="1"/>
          </p:cNvSpPr>
          <p:nvPr/>
        </p:nvSpPr>
        <p:spPr>
          <a:xfrm>
            <a:off x="3228087" y="25691029"/>
            <a:ext cx="83850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0" marR="0" lvl="0" indent="0"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2400" b="1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4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1.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Exemplo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rede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heterogênea</a:t>
            </a:r>
            <a:endParaRPr sz="2400" b="0" i="0" u="none" cap="none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</p:txBody>
      </p:sp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AD2B52CF-73C7-4406-BF53-8DDD353B8133}"/>
              </a:ext>
            </a:extLst>
          </p:cNvPr>
          <p:cNvSpPr>
            <a:spLocks noGrp="1"/>
          </p:cNvSpPr>
          <p:nvPr/>
        </p:nvSpPr>
        <p:spPr>
          <a:xfrm>
            <a:off x="16806672" y="19805904"/>
            <a:ext cx="13917168" cy="470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457200" marR="0" lvl="0" indent="-457200" algn="just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Indicação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perfis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: Recall@10 (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acertos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nas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10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primeiras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sugestões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)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passou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0,58% para 3,70% (teste offline).</a:t>
            </a:r>
            <a:endParaRPr sz="3200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  <a:p>
            <a:pPr marL="457200" indent="-457200" algn="just">
              <a:lnSpc>
                <a:spcPct val="106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Anúncios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: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ganho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médio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2,38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pontos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entropia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cruzada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relativa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(RCE)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redução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10,3% no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custo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por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conversão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(teste online).</a:t>
            </a:r>
          </a:p>
          <a:p>
            <a:pPr marL="457200" indent="-457200" algn="just">
              <a:lnSpc>
                <a:spcPct val="106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Busca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: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precisão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média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(MAP) de 55,7 para 57,0 com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usuário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autor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(teste offline).</a:t>
            </a:r>
          </a:p>
          <a:p>
            <a:pPr marL="457200" indent="-457200" algn="just">
              <a:lnSpc>
                <a:spcPct val="106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Conteúdo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ofensivo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: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resultado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melhor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uma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coleção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inferior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BERTweet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outra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71CC682B-5076-4474-B218-57A4F1F756DB}"/>
              </a:ext>
            </a:extLst>
          </p:cNvPr>
          <p:cNvSpPr>
            <a:spLocks noGrp="1"/>
          </p:cNvSpPr>
          <p:nvPr/>
        </p:nvSpPr>
        <p:spPr>
          <a:xfrm>
            <a:off x="3228087" y="18443233"/>
            <a:ext cx="10020300" cy="1275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METODOLOGIA 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23CB85E3-DE27-4A51-AAB2-7ECC3CDD686A}"/>
              </a:ext>
            </a:extLst>
          </p:cNvPr>
          <p:cNvSpPr>
            <a:spLocks noGrp="1"/>
          </p:cNvSpPr>
          <p:nvPr/>
        </p:nvSpPr>
        <p:spPr>
          <a:xfrm>
            <a:off x="16354675" y="18368019"/>
            <a:ext cx="14859000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Google Shape;108;p1">
            <a:extLst>
              <a:ext uri="{FF2B5EF4-FFF2-40B4-BE49-F238E27FC236}">
                <a16:creationId xmlns:a16="http://schemas.microsoft.com/office/drawing/2014/main" id="{26784834-3727-4A6F-BE14-015F32DCEA05}"/>
              </a:ext>
            </a:extLst>
          </p:cNvPr>
          <p:cNvSpPr>
            <a:spLocks noGrp="1"/>
          </p:cNvSpPr>
          <p:nvPr/>
        </p:nvSpPr>
        <p:spPr>
          <a:xfrm>
            <a:off x="18501232" y="18453041"/>
            <a:ext cx="10214700" cy="1174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RESULTADOS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118" name="Google Shape;118;p1">
            <a:extLst>
              <a:ext uri="{FF2B5EF4-FFF2-40B4-BE49-F238E27FC236}">
                <a16:creationId xmlns:a16="http://schemas.microsoft.com/office/drawing/2014/main" id="{7E1DCC9F-2CBA-433B-A46E-8CE37151515C}"/>
              </a:ext>
            </a:extLst>
          </p:cNvPr>
          <p:cNvSpPr>
            <a:spLocks noGrp="1"/>
          </p:cNvSpPr>
          <p:nvPr/>
        </p:nvSpPr>
        <p:spPr>
          <a:xfrm>
            <a:off x="12664695" y="25691029"/>
            <a:ext cx="83850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SzPts val="3200"/>
              <a:buNone/>
            </a:pPr>
            <a:r>
              <a:rPr sz="2400" b="1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4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2.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Fluxo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treinamento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aplicação</a:t>
            </a:r>
            <a:endParaRPr sz="2400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</p:txBody>
      </p:sp>
      <p:sp>
        <p:nvSpPr>
          <p:cNvPr id="120" name="Google Shape;120;p1">
            <a:extLst>
              <a:ext uri="{FF2B5EF4-FFF2-40B4-BE49-F238E27FC236}">
                <a16:creationId xmlns:a16="http://schemas.microsoft.com/office/drawing/2014/main" id="{828CF25E-21C4-4C62-BD7D-3B5ADD822FA2}"/>
              </a:ext>
            </a:extLst>
          </p:cNvPr>
          <p:cNvSpPr>
            <a:spLocks noGrp="1"/>
          </p:cNvSpPr>
          <p:nvPr/>
        </p:nvSpPr>
        <p:spPr>
          <a:xfrm>
            <a:off x="21817839" y="25691029"/>
            <a:ext cx="8385048" cy="585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0" lvl="0" indent="0" algn="ctr">
              <a:lnSpc>
                <a:spcPct val="106000"/>
              </a:lnSpc>
              <a:spcAft>
                <a:spcPts val="0"/>
              </a:spcAft>
              <a:buSzPts val="3200"/>
              <a:buFont typeface="Arial"/>
              <a:buNone/>
            </a:pPr>
            <a:r>
              <a:rPr sz="2400" b="1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4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3.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Recall@10 e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fator</a:t>
            </a:r>
            <a:r>
              <a:rPr sz="24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24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compressão</a:t>
            </a:r>
            <a:endParaRPr sz="2400" dirty="0">
              <a:solidFill>
                <a:schemeClr val="dk1"/>
              </a:solidFill>
              <a:latin typeface="Arial Nova Light"/>
              <a:ea typeface="Arial Nova Light"/>
              <a:cs typeface="Arial Nova Light"/>
            </a:endParaRPr>
          </a:p>
        </p:txBody>
      </p:sp>
      <p:pic>
        <p:nvPicPr>
          <p:cNvPr id="145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044232" y="40750637"/>
            <a:ext cx="3359818" cy="2371028"/>
          </a:xfrm>
          <a:prstGeom prst="rect">
            <a:avLst/>
          </a:prstGeom>
        </p:spPr>
      </p:pic>
      <p:sp>
        <p:nvSpPr>
          <p:cNvPr id="4" name="Google Shape;95;p1">
            <a:extLst>
              <a:ext uri="{FF2B5EF4-FFF2-40B4-BE49-F238E27FC236}">
                <a16:creationId xmlns:a16="http://schemas.microsoft.com/office/drawing/2014/main" id="{BE6F7359-E76A-FFA7-3DB1-F74872581101}"/>
              </a:ext>
            </a:extLst>
          </p:cNvPr>
          <p:cNvSpPr>
            <a:spLocks noGrp="1"/>
          </p:cNvSpPr>
          <p:nvPr/>
        </p:nvSpPr>
        <p:spPr>
          <a:xfrm>
            <a:off x="1676275" y="7513792"/>
            <a:ext cx="29626800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INTRODUÇÃO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5" name="Google Shape;98;p1">
            <a:extLst>
              <a:ext uri="{FF2B5EF4-FFF2-40B4-BE49-F238E27FC236}">
                <a16:creationId xmlns:a16="http://schemas.microsoft.com/office/drawing/2014/main" id="{16496AE6-43C0-CEA8-449C-DAD2440C0361}"/>
              </a:ext>
            </a:extLst>
          </p:cNvPr>
          <p:cNvSpPr>
            <a:spLocks noGrp="1"/>
          </p:cNvSpPr>
          <p:nvPr/>
        </p:nvSpPr>
        <p:spPr>
          <a:xfrm>
            <a:off x="1709928" y="9070848"/>
            <a:ext cx="29397960" cy="475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>
              <a:spcAft>
                <a:spcPts val="500"/>
              </a:spcAft>
              <a:defRPr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Redes sociais como o Twitter conectam usuários, tweets, anunciantes e anúncios por ações como seguir, curtir, responder, republicar e clicar. Com centenas de milhões de usuários e bilhões de interações diárias, o estudo busca representar preferências em escala e aproveitar sinais de relações distintas, inclusive quando uma tarefa possui poucos dados.</a:t>
            </a:r>
          </a:p>
          <a:p>
            <a:pPr>
              <a:spcAft>
                <a:spcPts val="500"/>
              </a:spcAft>
              <a:defRPr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lang="pt-BR" sz="32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Pergunta de pesquisa: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embeddings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pré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-treinados na rede heterogênea do Twitter podem gerar representações gerais e reutilizáveis que melhorem tarefas de recomendação e classificação?</a:t>
            </a:r>
          </a:p>
          <a:p>
            <a:pPr>
              <a:defRPr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defRPr>
            </a:pP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 TwHIN integra tipos de entidades e relações, aprende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embeddings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com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TransE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PyTorch-BigGraph</a:t>
            </a:r>
            <a:r>
              <a:rPr lang="pt-BR" sz="320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os aplica à geração de candidatos, recomendação de perfis, ranking de anúncios e buscas e detecção de conteúdo ofensivo. Seus pontos fortes são a escala industrial, o uso de dados não rotulados e a reutilização. Os autores relatam mais de 300% de ganho relativo no recall de perfis e redução de 10,3% no custo por conversão de anúncios. As limitações são a necessidade de compressão, o controle do desvio entre versões e resultados inconsistentes na detecção de conteúdo ofensivo.</a:t>
            </a:r>
          </a:p>
        </p:txBody>
      </p:sp>
      <p:sp>
        <p:nvSpPr>
          <p:cNvPr id="6" name="Google Shape;98;p1">
            <a:extLst>
              <a:ext uri="{FF2B5EF4-FFF2-40B4-BE49-F238E27FC236}">
                <a16:creationId xmlns:a16="http://schemas.microsoft.com/office/drawing/2014/main" id="{8A3BC815-3313-D011-472F-27D64ED28842}"/>
              </a:ext>
            </a:extLst>
          </p:cNvPr>
          <p:cNvSpPr>
            <a:spLocks noGrp="1"/>
          </p:cNvSpPr>
          <p:nvPr/>
        </p:nvSpPr>
        <p:spPr>
          <a:xfrm>
            <a:off x="1627632" y="15307055"/>
            <a:ext cx="29260800" cy="25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marL="0" marR="0" lvl="0" indent="0" algn="just">
              <a:lnSpc>
                <a:spcPct val="106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Apresentar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TwHIN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rede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heterogênea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do Twitter, e o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treinamento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para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usuários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tweets,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anúncios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relações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  <a:p>
            <a:pPr algn="just">
              <a:lnSpc>
                <a:spcPct val="106000"/>
              </a:lnSpc>
              <a:spcAft>
                <a:spcPts val="1200"/>
              </a:spcAft>
              <a:buNone/>
            </a:pP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Avaliar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o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uso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desses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vetores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para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gerar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candidatos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,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ordenar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recomendações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enriquecer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modelos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de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previsão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</a:t>
            </a:r>
            <a:r>
              <a:rPr sz="32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em</a:t>
            </a:r>
            <a:r>
              <a:rPr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testes offline e online</a:t>
            </a:r>
            <a:r>
              <a:rPr lang="pt-BR" sz="32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  <a:p>
            <a:pPr algn="just">
              <a:lnSpc>
                <a:spcPct val="106000"/>
              </a:lnSpc>
              <a:spcAft>
                <a:spcPts val="0"/>
              </a:spcAft>
            </a:pPr>
            <a:r>
              <a:rPr lang="pt-BR" sz="3200" dirty="0">
                <a:solidFill>
                  <a:srgbClr val="141D2A"/>
                </a:solidFill>
                <a:latin typeface="Arial Nova Light"/>
              </a:rPr>
              <a:t>Examinar estratégias de compressão e estabilidade que permitam usar os </a:t>
            </a:r>
            <a:r>
              <a:rPr lang="pt-BR" sz="3200" dirty="0" err="1">
                <a:solidFill>
                  <a:srgbClr val="141D2A"/>
                </a:solidFill>
                <a:latin typeface="Arial Nova Light"/>
              </a:rPr>
              <a:t>embeddings</a:t>
            </a:r>
            <a:r>
              <a:rPr lang="pt-BR" sz="3200" dirty="0">
                <a:solidFill>
                  <a:srgbClr val="141D2A"/>
                </a:solidFill>
                <a:latin typeface="Arial Nova Light"/>
              </a:rPr>
              <a:t> em sistemas de baixa latência.</a:t>
            </a:r>
          </a:p>
        </p:txBody>
      </p:sp>
      <p:sp>
        <p:nvSpPr>
          <p:cNvPr id="13" name="Google Shape;97;p1">
            <a:extLst>
              <a:ext uri="{FF2B5EF4-FFF2-40B4-BE49-F238E27FC236}">
                <a16:creationId xmlns:a16="http://schemas.microsoft.com/office/drawing/2014/main" id="{84C65E66-F428-512A-8679-A527C8C4D3B3}"/>
              </a:ext>
            </a:extLst>
          </p:cNvPr>
          <p:cNvSpPr>
            <a:spLocks noGrp="1"/>
          </p:cNvSpPr>
          <p:nvPr/>
        </p:nvSpPr>
        <p:spPr>
          <a:xfrm>
            <a:off x="1325425" y="35572867"/>
            <a:ext cx="29626800" cy="1260000"/>
          </a:xfrm>
          <a:prstGeom prst="roundRect">
            <a:avLst>
              <a:gd name="adj" fmla="val 18551"/>
            </a:avLst>
          </a:prstGeom>
          <a:solidFill>
            <a:schemeClr val="accent1"/>
          </a:solidFill>
          <a:ln w="3810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>
            <a:outerShdw blurRad="40000" dist="20000" dir="5400000" rotWithShape="0">
              <a:srgbClr val="000000">
                <a:alpha val="36470"/>
              </a:srgbClr>
            </a:outerShdw>
          </a:effectLst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sz="6000" b="1" i="0" u="none" cap="none">
                <a:solidFill>
                  <a:srgbClr val="002060"/>
                </a:solidFill>
                <a:latin typeface="Arial Rounded MT Bold"/>
                <a:ea typeface="Arial Rounded MT Bold"/>
                <a:cs typeface="Arial Rounded MT Bold"/>
              </a:rPr>
              <a:t>REFERÊNCIAS</a:t>
            </a:r>
            <a:endParaRPr sz="1400" b="0" i="0" u="none" cap="none">
              <a:solidFill>
                <a:srgbClr val="000000"/>
              </a:solidFill>
              <a:latin typeface="Arial Rounded MT Bold"/>
              <a:ea typeface="Arial Rounded MT Bold"/>
              <a:cs typeface="Arial Rounded MT Bold"/>
            </a:endParaRPr>
          </a:p>
        </p:txBody>
      </p:sp>
      <p:sp>
        <p:nvSpPr>
          <p:cNvPr id="14" name="Google Shape;100;p1">
            <a:extLst>
              <a:ext uri="{FF2B5EF4-FFF2-40B4-BE49-F238E27FC236}">
                <a16:creationId xmlns:a16="http://schemas.microsoft.com/office/drawing/2014/main" id="{85C7CDBE-30D7-3010-57BE-2ADEE7CCE040}"/>
              </a:ext>
            </a:extLst>
          </p:cNvPr>
          <p:cNvSpPr>
            <a:spLocks noGrp="1"/>
          </p:cNvSpPr>
          <p:nvPr/>
        </p:nvSpPr>
        <p:spPr>
          <a:xfrm>
            <a:off x="1389888" y="37142928"/>
            <a:ext cx="29397960" cy="295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tIns="36576" bIns="36576" anchor="t">
            <a:noAutofit/>
          </a:bodyPr>
          <a:lstStyle/>
          <a:p>
            <a:pPr algn="just">
              <a:lnSpc>
                <a:spcPct val="106000"/>
              </a:lnSpc>
              <a:spcBef>
                <a:spcPts val="600"/>
              </a:spcBef>
              <a:spcAft>
                <a:spcPts val="1300"/>
              </a:spcAft>
              <a:buNone/>
            </a:pP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EL-KISHKY, Ahmed et al. </a:t>
            </a:r>
            <a:r>
              <a:rPr sz="1600" b="1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TwHIN</a:t>
            </a:r>
            <a:r>
              <a:rPr sz="16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: Embedding the Twitter Heterogeneous Information Network for Personalized Recommendation.</a:t>
            </a: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In: ACM SIGKDD CONFERENCE ON KNOWLEDGE DISCOVERY AND DATA MINING (KDD), 28., 2022, Washington. Proceedings [...]. New York: ACM, 2022. p. 2842–2850.</a:t>
            </a:r>
            <a:endParaRPr sz="1600" dirty="0">
              <a:latin typeface="Arial Nova Light"/>
              <a:ea typeface="Arial Nova Light"/>
              <a:cs typeface="Arial Nova Light"/>
            </a:endParaRPr>
          </a:p>
          <a:p>
            <a:pPr algn="just">
              <a:lnSpc>
                <a:spcPct val="106000"/>
              </a:lnSpc>
              <a:spcAft>
                <a:spcPts val="0"/>
              </a:spcAft>
              <a:buNone/>
            </a:pP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DOI: https://doi.org/10.1145/3534678.3539080. </a:t>
            </a:r>
            <a:r>
              <a:rPr sz="16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Figuras</a:t>
            </a: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1, 2 e 3 </a:t>
            </a:r>
            <a:r>
              <a:rPr sz="16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reproduzidas</a:t>
            </a: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do </a:t>
            </a:r>
            <a:r>
              <a:rPr sz="16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artigo</a:t>
            </a:r>
            <a:r>
              <a:rPr sz="16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14DBC4-576D-1351-0386-51FF4B35363D}"/>
              </a:ext>
            </a:extLst>
          </p:cNvPr>
          <p:cNvSpPr>
            <a:spLocks noGrp="1"/>
          </p:cNvSpPr>
          <p:nvPr/>
        </p:nvSpPr>
        <p:spPr>
          <a:xfrm>
            <a:off x="3228087" y="30742010"/>
            <a:ext cx="8384999" cy="5232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20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Fonte: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El-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Kishky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et al. (2022), 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2</a:t>
            </a:r>
            <a:r>
              <a:rPr sz="23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.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786E75BA-1B8F-F153-07A2-E0C76C16BEB7}"/>
              </a:ext>
            </a:extLst>
          </p:cNvPr>
          <p:cNvSpPr>
            <a:spLocks noGrp="1"/>
          </p:cNvSpPr>
          <p:nvPr/>
        </p:nvSpPr>
        <p:spPr>
          <a:xfrm>
            <a:off x="152400" y="15240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6D51E0E4-1269-30D9-C108-395F74029A7D}"/>
              </a:ext>
            </a:extLst>
          </p:cNvPr>
          <p:cNvSpPr>
            <a:spLocks noGrp="1"/>
          </p:cNvSpPr>
          <p:nvPr/>
        </p:nvSpPr>
        <p:spPr>
          <a:xfrm>
            <a:off x="304800" y="30480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EA32BCFA-F87D-3761-1FF7-90570019C570}"/>
              </a:ext>
            </a:extLst>
          </p:cNvPr>
          <p:cNvSpPr>
            <a:spLocks noGrp="1"/>
          </p:cNvSpPr>
          <p:nvPr/>
        </p:nvSpPr>
        <p:spPr>
          <a:xfrm>
            <a:off x="457200" y="45720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3002AD33-4738-B59A-2F7D-BDFAD506E90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32404050" cy="0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>
            <a:spAutoFit/>
          </a:bodyPr>
          <a:lstStyle/>
          <a:p>
            <a:endParaRPr/>
          </a:p>
        </p:txBody>
      </p:sp>
      <p:pic>
        <p:nvPicPr>
          <p:cNvPr id="158" name="Picture 1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38237" y="743191"/>
            <a:ext cx="2149128" cy="2149128"/>
          </a:xfrm>
          <a:prstGeom prst="rect">
            <a:avLst/>
          </a:prstGeom>
        </p:spPr>
      </p:pic>
      <p:sp>
        <p:nvSpPr>
          <p:cNvPr id="23" name="CaixaDeTexto 22">
            <a:extLst>
              <a:ext uri="{FF2B5EF4-FFF2-40B4-BE49-F238E27FC236}">
                <a16:creationId xmlns:a16="http://schemas.microsoft.com/office/drawing/2014/main" id="{A1AE297B-FAEA-868D-98C6-2017A79FA9B2}"/>
              </a:ext>
            </a:extLst>
          </p:cNvPr>
          <p:cNvSpPr>
            <a:spLocks noGrp="1"/>
          </p:cNvSpPr>
          <p:nvPr/>
        </p:nvSpPr>
        <p:spPr>
          <a:xfrm>
            <a:off x="12675271" y="30818940"/>
            <a:ext cx="8384999" cy="5232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20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Fonte: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El-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Kishky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et al. (2022), 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3.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C75634B-A73D-A882-626F-A7EEE12B33A0}"/>
              </a:ext>
            </a:extLst>
          </p:cNvPr>
          <p:cNvSpPr>
            <a:spLocks noGrp="1"/>
          </p:cNvSpPr>
          <p:nvPr/>
        </p:nvSpPr>
        <p:spPr>
          <a:xfrm>
            <a:off x="21770208" y="30861539"/>
            <a:ext cx="8384999" cy="523220"/>
          </a:xfrm>
          <a:prstGeom prst="rect">
            <a:avLst/>
          </a:prstGeom>
          <a:noFill/>
        </p:spPr>
        <p:txBody>
          <a:bodyPr wrap="square" tIns="36576" bIns="36576" anchor="t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  <a:buNone/>
            </a:pPr>
            <a:r>
              <a:rPr sz="2000" b="1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Fonte: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El-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Kishky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et al. (2022), </a:t>
            </a:r>
            <a:r>
              <a:rPr sz="2000" b="0" dirty="0" err="1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Figura</a:t>
            </a:r>
            <a:r>
              <a:rPr sz="2000" b="0" dirty="0">
                <a:solidFill>
                  <a:srgbClr val="141D2A"/>
                </a:solidFill>
                <a:latin typeface="Arial Nova Light"/>
                <a:ea typeface="Arial Nova Light"/>
                <a:cs typeface="Arial Nova Light"/>
              </a:rPr>
              <a:t> 4a.</a:t>
            </a:r>
          </a:p>
        </p:txBody>
      </p:sp>
      <p:pic>
        <p:nvPicPr>
          <p:cNvPr id="161" name="Picture 10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967" y="26188621"/>
            <a:ext cx="8019288" cy="4599297"/>
          </a:xfrm>
          <a:prstGeom prst="rect">
            <a:avLst/>
          </a:prstGeom>
        </p:spPr>
      </p:pic>
      <p:pic>
        <p:nvPicPr>
          <p:cNvPr id="162" name="Picture 10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00474" y="26421726"/>
            <a:ext cx="8913489" cy="4320284"/>
          </a:xfrm>
          <a:prstGeom prst="rect">
            <a:avLst/>
          </a:prstGeom>
        </p:spPr>
      </p:pic>
      <p:pic>
        <p:nvPicPr>
          <p:cNvPr id="163" name="Imagem 162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23786964" y="26421726"/>
            <a:ext cx="4410222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37730"/>
      </p:ext>
    </p:extLst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sign padrã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sign padrã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667</Words>
  <Application>Microsoft Office PowerPoint</Application>
  <DocSecurity>0</DocSecurity>
  <PresentationFormat>Personalizar</PresentationFormat>
  <Paragraphs>38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Arial Nova Light</vt:lpstr>
      <vt:lpstr>Arial Rounded MT Bold</vt:lpstr>
      <vt:lpstr>Design padrão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Mateus Spezia</cp:lastModifiedBy>
  <cp:revision>6</cp:revision>
  <dcterms:created xsi:type="dcterms:W3CDTF">2026-09-25T01:10:36Z</dcterms:created>
  <dcterms:modified xsi:type="dcterms:W3CDTF">2026-09-25T02:45:29Z</dcterms:modified>
</cp:coreProperties>
</file>