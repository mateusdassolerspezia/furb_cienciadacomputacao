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2" r:id="rId1"/>
  </p:sldMasterIdLst>
  <p:sldIdLst>
    <p:sldId id="256" r:id="rId2"/>
    <p:sldId id="258" r:id="rId3"/>
    <p:sldId id="263" r:id="rId4"/>
    <p:sldId id="267" r:id="rId5"/>
    <p:sldId id="283" r:id="rId6"/>
    <p:sldId id="264" r:id="rId7"/>
    <p:sldId id="274" r:id="rId8"/>
    <p:sldId id="275" r:id="rId9"/>
    <p:sldId id="284" r:id="rId10"/>
    <p:sldId id="259" r:id="rId11"/>
    <p:sldId id="261" r:id="rId12"/>
    <p:sldId id="279" r:id="rId13"/>
    <p:sldId id="265" r:id="rId14"/>
    <p:sldId id="270" r:id="rId15"/>
    <p:sldId id="280" r:id="rId16"/>
    <p:sldId id="281" r:id="rId17"/>
    <p:sldId id="266" r:id="rId18"/>
    <p:sldId id="271" r:id="rId19"/>
    <p:sldId id="278" r:id="rId20"/>
    <p:sldId id="282" r:id="rId21"/>
    <p:sldId id="257" r:id="rId22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E438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322BDA1-FE63-7A39-5EEB-FD37E76686A2}" v="47" dt="2026-05-27T15:15:32.132"/>
    <p1510:client id="{08592853-23B2-3EF9-9455-AD829326BFE7}" v="155" dt="2026-05-26T00:06:43.303"/>
    <p1510:client id="{121E20D0-292D-CE2B-0E3F-11246AC2B695}" v="57" dt="2026-05-27T17:52:40.311"/>
    <p1510:client id="{20760B41-651E-2B29-EEA4-7BA63DDF4050}" v="27" dt="2026-05-27T23:15:18.268"/>
    <p1510:client id="{38E24728-E4F5-829E-08C1-C306149D1586}" v="172" dt="2026-05-26T01:35:49.793"/>
    <p1510:client id="{3F3DE9F6-3D5E-6D86-914B-BF4C6957D9DD}" v="10" dt="2026-05-27T14:48:52.574"/>
    <p1510:client id="{71537D9C-797C-E6BB-C7DE-7BC9B5193A12}" v="65" dt="2026-05-27T22:40:59.050"/>
    <p1510:client id="{95C622F5-0D4F-1560-6AB1-BB87C0D2A931}" v="16" dt="2026-05-27T16:36:05.23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microsoft.com/office/2015/10/relationships/revisionInfo" Target="revisionInfo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A12BED07-6713-92AA-40AF-AE58F4F83C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95400" y="4701464"/>
            <a:ext cx="8952782" cy="1204036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C9EF77-BF49-E4C1-0FC7-5633547779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DDF98-C922-483F-97E9-3E76B0201B42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BD5853-25AA-1C3D-EAD2-496674792D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7F0DAD-5850-CAAE-CD25-4D6DDDFF3A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B3671-A306-4A69-8480-FA9BE839245D}" type="slidenum">
              <a:rPr lang="en-US" smtClean="0"/>
              <a:t>‹nº›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34851B1-0B20-9549-0D70-886AA9D0453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95400" y="952500"/>
            <a:ext cx="8952781" cy="3748824"/>
          </a:xfrm>
          <a:noFill/>
        </p:spPr>
        <p:txBody>
          <a:bodyPr anchor="b">
            <a:normAutofit/>
          </a:bodyPr>
          <a:lstStyle>
            <a:lvl1pPr algn="l">
              <a:defRPr sz="3200" spc="530" baseline="0"/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0982752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B48F26-B5E3-8A90-51FC-8520D1D732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EA4D95-10F3-6212-8302-5610C43E32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281BE7-A53D-441E-0393-0E59412C91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DDF98-C922-483F-97E9-3E76B0201B42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EF10F0-B23F-BF4B-DB66-9BCF734DB9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65DDEC-13A7-D988-D082-03076F80F1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B3671-A306-4A69-8480-FA9BE839245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3565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D80CFA-45ED-71B0-EE3E-CCE6D5C193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0" y="1618211"/>
            <a:ext cx="8412190" cy="3944389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37BECA-A01D-7D7A-F2A6-891EC9D229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95400" y="908858"/>
            <a:ext cx="8412192" cy="676102"/>
          </a:xfrm>
        </p:spPr>
        <p:txBody>
          <a:bodyPr anchor="b"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716478-6FAF-D420-0B87-6EABB81E88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DDF98-C922-483F-97E9-3E76B0201B42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C4289B-CB0D-8AFC-7C02-F755C0DCC8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7971E4-8A9E-2A30-D7FE-B3505124BB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B3671-A306-4A69-8480-FA9BE839245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69266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87F941-C3A7-545F-8046-C7A9AC8030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BD4277-CFAE-EEF6-3346-61F06D5A394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95401" y="2260121"/>
            <a:ext cx="4350026" cy="36568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543384-699D-84FC-C8B5-7BDE49BB44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46574" y="2260120"/>
            <a:ext cx="4350025" cy="3656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A49386-AFC8-03DA-4563-07B0A0119B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DDF98-C922-483F-97E9-3E76B0201B42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AED60A-7704-31D9-7D4D-65C635EDF8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6927DA-3B5E-13B8-0BA8-5DCFF001E0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B3671-A306-4A69-8480-FA9BE839245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51289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37B55A-280B-BDCB-F966-8578DDE741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0" y="966788"/>
            <a:ext cx="10059988" cy="105178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76EA03-7008-14AB-547B-E66EA4EC96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95400" y="2018581"/>
            <a:ext cx="4350027" cy="544003"/>
          </a:xfrm>
        </p:spPr>
        <p:txBody>
          <a:bodyPr anchor="b"/>
          <a:lstStyle>
            <a:lvl1pPr marL="0" indent="0">
              <a:buNone/>
              <a:defRPr sz="2400" b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D629F56-D2C8-71FE-FA59-002819D518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95400" y="2774756"/>
            <a:ext cx="4350027" cy="31507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12524D2-CA8D-75F3-D089-C2F0E20D475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46572" y="2018581"/>
            <a:ext cx="4350028" cy="544003"/>
          </a:xfrm>
        </p:spPr>
        <p:txBody>
          <a:bodyPr anchor="b"/>
          <a:lstStyle>
            <a:lvl1pPr marL="0" indent="0">
              <a:buNone/>
              <a:defRPr sz="2400" b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E99B0E3-5AE5-0516-27BF-9F246137FE0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46572" y="2774756"/>
            <a:ext cx="4350028" cy="31507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7B319A7-6048-4735-B2AC-6D6043F146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DDF98-C922-483F-97E9-3E76B0201B42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515F875-F23E-D0D2-9115-CD494FDA00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DB4F88F-F488-D9D5-CF99-AA1750AAFC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B3671-A306-4A69-8480-FA9BE839245D}" type="slidenum">
              <a:rPr lang="en-US" smtClean="0"/>
              <a:t>‹nº›</a:t>
            </a:fld>
            <a:endParaRPr lang="en-US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5094593-EFC2-EEEF-74CD-BD00F4132A94}"/>
              </a:ext>
            </a:extLst>
          </p:cNvPr>
          <p:cNvCxnSpPr>
            <a:cxnSpLocks/>
          </p:cNvCxnSpPr>
          <p:nvPr/>
        </p:nvCxnSpPr>
        <p:spPr>
          <a:xfrm>
            <a:off x="6657975" y="2625552"/>
            <a:ext cx="4238625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AF851F6D-436C-FA47-8CD1-2C10E735764A}"/>
              </a:ext>
            </a:extLst>
          </p:cNvPr>
          <p:cNvCxnSpPr>
            <a:cxnSpLocks/>
          </p:cNvCxnSpPr>
          <p:nvPr/>
        </p:nvCxnSpPr>
        <p:spPr>
          <a:xfrm>
            <a:off x="1403684" y="2625552"/>
            <a:ext cx="424174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099076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D91B86-9261-4E82-EF65-30F78154E2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A3A5E84-E43B-20AE-E80D-47CB0B07BD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DDF98-C922-483F-97E9-3E76B0201B42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AFF5797-14F1-9FEB-247C-0E325AF74D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5B5D7AF-1489-8F93-4828-0AE784B8BA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B3671-A306-4A69-8480-FA9BE839245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54989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B6CAF1C-8901-AE05-E52C-D5B9594105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DDF98-C922-483F-97E9-3E76B0201B42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1CD4F90-2973-4FE2-6C2C-5C2AC5C5A8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50414B-A7EC-0C14-EFD2-29C5582CC1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B3671-A306-4A69-8480-FA9BE839245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63372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E378C7-A764-C5E4-A6A4-DC5B1B3537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6484" y="1306484"/>
            <a:ext cx="3932237" cy="2122516"/>
          </a:xfrm>
        </p:spPr>
        <p:txBody>
          <a:bodyPr anchor="t"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DFE178-4B5D-413B-6583-AB81E8D041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1312026"/>
            <a:ext cx="5143500" cy="4565651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DB92F6D-71AB-9630-9DBE-46041C50C7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306484" y="3428999"/>
            <a:ext cx="3932237" cy="2133601"/>
          </a:xfrm>
        </p:spPr>
        <p:txBody>
          <a:bodyPr anchor="b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0FEAAD1-C919-6E2E-32D2-E199025FB8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DDF98-C922-483F-97E9-3E76B0201B42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88B5D8-E15B-BE38-2A89-BD0F02E1A0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7ECC26-B78C-4CBD-6883-97E80D3E5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B3671-A306-4A69-8480-FA9BE839245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40756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A04EAA-30F7-390A-C77C-2E5BD8218B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6484" y="1307185"/>
            <a:ext cx="3932237" cy="2121813"/>
          </a:xfrm>
        </p:spPr>
        <p:txBody>
          <a:bodyPr anchor="t"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13A1C34-81AC-D534-67B1-42721228935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857702" y="1307186"/>
            <a:ext cx="5038898" cy="459831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E1012D-3524-26C6-64C1-8CE6E7A9A2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306484" y="3428999"/>
            <a:ext cx="3932237" cy="2133601"/>
          </a:xfrm>
        </p:spPr>
        <p:txBody>
          <a:bodyPr anchor="b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8FA6D7-1BE0-F14D-A2F7-4836180BC3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DDF98-C922-483F-97E9-3E76B0201B42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56B5AC-3F20-FDC1-D579-7C4C6B4ED0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074ACA-1D54-81FA-70B1-31AB3011B3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B3671-A306-4A69-8480-FA9BE839245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10909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D2C3AB-851A-0D2F-B3AE-5B161CFFC0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E89FD6B-3621-3904-7878-A2825C6925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808AE9-D8ED-ED5D-D7B0-A43811777E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DDF98-C922-483F-97E9-3E76B0201B42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9EF98B-AC81-D122-3D05-9C4E2FE423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9FB543-B138-6627-3714-12105D172A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B3671-A306-4A69-8480-FA9BE839245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02736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03DE16D-F1A0-DDB5-A98C-A9055C93D91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188334" y="952499"/>
            <a:ext cx="2051165" cy="49530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D8A548F-8DA7-C53C-1BFE-7C720CB20FA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952500" y="952499"/>
            <a:ext cx="8235834" cy="49530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2EA2C8-1C90-25D0-8B0A-30B73CFD3E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DDF98-C922-483F-97E9-3E76B0201B42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6FF1A4-0404-DA2D-1EA4-828091C04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457155-0F4A-F7B7-C4A8-755572E98C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B3671-A306-4A69-8480-FA9BE839245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72669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6792104-6F24-CD50-F55E-22A55084DD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0" y="842963"/>
            <a:ext cx="9601200" cy="130968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1059CB-D00E-398D-E4D9-59792FC40A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95400" y="2262188"/>
            <a:ext cx="9601200" cy="36433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DFBC38-D897-7CBE-AC89-A95A2222D7C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47726" y="619918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fld id="{5DBDDF98-C922-483F-97E9-3E76B0201B42}" type="datetimeFigureOut">
              <a:rPr lang="en-US" smtClean="0"/>
              <a:pPr/>
              <a:t>6/28/2026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728008-2A03-D518-4A75-30816EB0D19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286625" y="6199188"/>
            <a:ext cx="340995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691D49-2BD8-1C36-B43A-CF2F917776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28107" y="6199188"/>
            <a:ext cx="6191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fld id="{1B8B3671-A306-4A69-8480-FA9BE839245D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670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7" r:id="rId1"/>
    <p:sldLayoutId id="2147483718" r:id="rId2"/>
    <p:sldLayoutId id="2147483719" r:id="rId3"/>
    <p:sldLayoutId id="2147483720" r:id="rId4"/>
    <p:sldLayoutId id="2147483721" r:id="rId5"/>
    <p:sldLayoutId id="2147483715" r:id="rId6"/>
    <p:sldLayoutId id="2147483711" r:id="rId7"/>
    <p:sldLayoutId id="2147483712" r:id="rId8"/>
    <p:sldLayoutId id="2147483713" r:id="rId9"/>
    <p:sldLayoutId id="2147483714" r:id="rId10"/>
    <p:sldLayoutId id="2147483716" r:id="rId11"/>
  </p:sldLayoutIdLst>
  <p:txStyles>
    <p:titleStyle>
      <a:lvl1pPr algn="l" defTabSz="914400" rtl="0" eaLnBrk="1" latinLnBrk="0" hangingPunct="1">
        <a:lnSpc>
          <a:spcPct val="120000"/>
        </a:lnSpc>
        <a:spcBef>
          <a:spcPct val="0"/>
        </a:spcBef>
        <a:buNone/>
        <a:defRPr sz="2800" kern="1200" cap="all" spc="5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75488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694944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152144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hyperlink" Target="https://pt.khanacademy.org/computing/computer-science/algorithms/merge-sort/a/divide-and-conquer-algorithms" TargetMode="External"/><Relationship Id="rId13" Type="http://schemas.openxmlformats.org/officeDocument/2006/relationships/hyperlink" Target="https://ic.unicamp.br/~rocha/msc/complex/algoritmosGulososFinal.pdf" TargetMode="External"/><Relationship Id="rId3" Type="http://schemas.openxmlformats.org/officeDocument/2006/relationships/hyperlink" Target="https://medium.com/@andreaiacono/backtracking-explained-7450d6ef9e1a" TargetMode="External"/><Relationship Id="rId7" Type="http://schemas.openxmlformats.org/officeDocument/2006/relationships/hyperlink" Target="http://profs.ic.uff.br/~lfignacio/asa/Aula_20_2023_2.pdf" TargetMode="External"/><Relationship Id="rId12" Type="http://schemas.openxmlformats.org/officeDocument/2006/relationships/hyperlink" Target="https://youtu.be/wx5juM9bbFo?si=wJ-R9cyrhmBxB-cT" TargetMode="External"/><Relationship Id="rId2" Type="http://schemas.openxmlformats.org/officeDocument/2006/relationships/hyperlink" Target="https://www.bcc.unifal-mg.edu.br/~humberto/disciplinas/2011_1_paa/aulas/aula13_ProjetoDeAlgoritmos_Tentativa_Erro_parte1.pdf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pt.stackoverflow.com/questions/103681/o-que-%C3%A9-um-algoritmo-guloso" TargetMode="External"/><Relationship Id="rId11" Type="http://schemas.openxmlformats.org/officeDocument/2006/relationships/hyperlink" Target="https://daniloeler.github.io/teaching/PAA2020/files/PAA-Aula09-DivisaoConquista.pdf" TargetMode="External"/><Relationship Id="rId5" Type="http://schemas.openxmlformats.org/officeDocument/2006/relationships/hyperlink" Target="https://www.ime.usp.br/~pf/analise_de_algoritmos/aulas/guloso.html" TargetMode="External"/><Relationship Id="rId10" Type="http://schemas.openxmlformats.org/officeDocument/2006/relationships/hyperlink" Target="https://www.ime.usp.br/~pf/analise_de_algoritmos/aulas/dynamic-programming.html" TargetMode="External"/><Relationship Id="rId4" Type="http://schemas.openxmlformats.org/officeDocument/2006/relationships/hyperlink" Target="https://www.each.usp.br/digiampietri/SIN5013/12-tentativaEErro.pdf" TargetMode="External"/><Relationship Id="rId9" Type="http://schemas.openxmlformats.org/officeDocument/2006/relationships/hyperlink" Target="https://cp-algorithms.com/dynamic_programming/intro-to-dp.html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0623FB3B-24E7-5304-70D8-3CA4029022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9FDE5D3F-9697-6662-8C79-5FA76D1366C1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rcRect l="3185"/>
          <a:stretch>
            <a:fillRect/>
          </a:stretch>
        </p:blipFill>
        <p:spPr>
          <a:xfrm>
            <a:off x="-149" y="-5292"/>
            <a:ext cx="12192149" cy="6863291"/>
          </a:xfrm>
          <a:prstGeom prst="rect">
            <a:avLst/>
          </a:prstGeom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765E06A5-89B1-CB13-4A3D-5EEDA36AB2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1331611" y="-1331760"/>
            <a:ext cx="6857999" cy="9521520"/>
          </a:xfrm>
          <a:prstGeom prst="rect">
            <a:avLst/>
          </a:prstGeom>
          <a:gradFill flip="none" rotWithShape="1">
            <a:gsLst>
              <a:gs pos="0">
                <a:srgbClr val="000000">
                  <a:alpha val="56000"/>
                </a:srgbClr>
              </a:gs>
              <a:gs pos="100000">
                <a:srgbClr val="000000">
                  <a:alpha val="0"/>
                </a:srgbClr>
              </a:gs>
              <a:gs pos="60000">
                <a:srgbClr val="000000">
                  <a:alpha val="28000"/>
                </a:srgb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776882" y="1720912"/>
            <a:ext cx="6528182" cy="1961768"/>
          </a:xfrm>
          <a:noFill/>
        </p:spPr>
        <p:txBody>
          <a:bodyPr anchor="b">
            <a:normAutofit/>
          </a:bodyPr>
          <a:lstStyle/>
          <a:p>
            <a:pPr>
              <a:lnSpc>
                <a:spcPct val="110000"/>
              </a:lnSpc>
            </a:pPr>
            <a:r>
              <a:rPr lang="pt-PT" sz="2200">
                <a:solidFill>
                  <a:srgbClr val="FFFFFF"/>
                </a:solidFill>
                <a:ea typeface="+mj-lt"/>
                <a:cs typeface="+mj-lt"/>
              </a:rPr>
              <a:t>Algoritmos Gulosos Algoritmos Aproximativos Tentativa e Erro</a:t>
            </a:r>
            <a:br>
              <a:rPr lang="pt-PT" sz="2200">
                <a:ea typeface="+mj-lt"/>
                <a:cs typeface="+mj-lt"/>
              </a:rPr>
            </a:br>
            <a:r>
              <a:rPr lang="pt-PT" sz="2200">
                <a:solidFill>
                  <a:srgbClr val="FFFFFF"/>
                </a:solidFill>
                <a:ea typeface="+mj-lt"/>
                <a:cs typeface="+mj-lt"/>
              </a:rPr>
              <a:t>Divisão e Conquista Programação Dinâmica</a:t>
            </a:r>
            <a:endParaRPr lang="en-US" sz="220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776882" y="3682682"/>
            <a:ext cx="4326866" cy="753372"/>
          </a:xfrm>
          <a:noFill/>
        </p:spPr>
        <p:txBody>
          <a:bodyPr anchor="t">
            <a:normAutofit/>
          </a:bodyPr>
          <a:lstStyle/>
          <a:p>
            <a:r>
              <a:rPr lang="pt-PT">
                <a:solidFill>
                  <a:srgbClr val="FFFFFF"/>
                </a:solidFill>
              </a:rPr>
              <a:t>Eugênio Victor Erbs, Laura Soares Möller e Mateus Dassoler Spezia</a:t>
            </a:r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4711BF64-C99B-2F90-ADA1-0C08F9BE83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952500" y="952500"/>
            <a:ext cx="10287000" cy="4953000"/>
          </a:xfrm>
          <a:custGeom>
            <a:avLst/>
            <a:gdLst>
              <a:gd name="connsiteX0" fmla="*/ 0 w 9985794"/>
              <a:gd name="connsiteY0" fmla="*/ 0 h 4920343"/>
              <a:gd name="connsiteX1" fmla="*/ 9985794 w 9985794"/>
              <a:gd name="connsiteY1" fmla="*/ 0 h 4920343"/>
              <a:gd name="connsiteX2" fmla="*/ 9985794 w 9985794"/>
              <a:gd name="connsiteY2" fmla="*/ 4920343 h 4920343"/>
              <a:gd name="connsiteX3" fmla="*/ 0 w 9985794"/>
              <a:gd name="connsiteY3" fmla="*/ 4920343 h 4920343"/>
              <a:gd name="connsiteX4" fmla="*/ 0 w 9985794"/>
              <a:gd name="connsiteY4" fmla="*/ 4119525 h 4920343"/>
              <a:gd name="connsiteX5" fmla="*/ 4905554 w 9985794"/>
              <a:gd name="connsiteY5" fmla="*/ 4119525 h 4920343"/>
              <a:gd name="connsiteX6" fmla="*/ 4905554 w 9985794"/>
              <a:gd name="connsiteY6" fmla="*/ 1451087 h 4920343"/>
              <a:gd name="connsiteX7" fmla="*/ 0 w 9985794"/>
              <a:gd name="connsiteY7" fmla="*/ 1451087 h 4920343"/>
              <a:gd name="connsiteX0" fmla="*/ 4905554 w 9985794"/>
              <a:gd name="connsiteY0" fmla="*/ 4119525 h 4920343"/>
              <a:gd name="connsiteX1" fmla="*/ 4905554 w 9985794"/>
              <a:gd name="connsiteY1" fmla="*/ 1451087 h 4920343"/>
              <a:gd name="connsiteX2" fmla="*/ 0 w 9985794"/>
              <a:gd name="connsiteY2" fmla="*/ 1451087 h 4920343"/>
              <a:gd name="connsiteX3" fmla="*/ 0 w 9985794"/>
              <a:gd name="connsiteY3" fmla="*/ 0 h 4920343"/>
              <a:gd name="connsiteX4" fmla="*/ 9985794 w 9985794"/>
              <a:gd name="connsiteY4" fmla="*/ 0 h 4920343"/>
              <a:gd name="connsiteX5" fmla="*/ 9985794 w 9985794"/>
              <a:gd name="connsiteY5" fmla="*/ 4920343 h 4920343"/>
              <a:gd name="connsiteX6" fmla="*/ 0 w 9985794"/>
              <a:gd name="connsiteY6" fmla="*/ 4920343 h 4920343"/>
              <a:gd name="connsiteX7" fmla="*/ 0 w 9985794"/>
              <a:gd name="connsiteY7" fmla="*/ 4119525 h 4920343"/>
              <a:gd name="connsiteX8" fmla="*/ 4996994 w 9985794"/>
              <a:gd name="connsiteY8" fmla="*/ 4210965 h 4920343"/>
              <a:gd name="connsiteX0" fmla="*/ 4905554 w 9985794"/>
              <a:gd name="connsiteY0" fmla="*/ 4119525 h 4920343"/>
              <a:gd name="connsiteX1" fmla="*/ 4905554 w 9985794"/>
              <a:gd name="connsiteY1" fmla="*/ 1451087 h 4920343"/>
              <a:gd name="connsiteX2" fmla="*/ 0 w 9985794"/>
              <a:gd name="connsiteY2" fmla="*/ 1451087 h 4920343"/>
              <a:gd name="connsiteX3" fmla="*/ 0 w 9985794"/>
              <a:gd name="connsiteY3" fmla="*/ 0 h 4920343"/>
              <a:gd name="connsiteX4" fmla="*/ 9985794 w 9985794"/>
              <a:gd name="connsiteY4" fmla="*/ 0 h 4920343"/>
              <a:gd name="connsiteX5" fmla="*/ 9985794 w 9985794"/>
              <a:gd name="connsiteY5" fmla="*/ 4920343 h 4920343"/>
              <a:gd name="connsiteX6" fmla="*/ 0 w 9985794"/>
              <a:gd name="connsiteY6" fmla="*/ 4920343 h 4920343"/>
              <a:gd name="connsiteX7" fmla="*/ 0 w 9985794"/>
              <a:gd name="connsiteY7" fmla="*/ 4119525 h 4920343"/>
              <a:gd name="connsiteX0" fmla="*/ 4905554 w 9985794"/>
              <a:gd name="connsiteY0" fmla="*/ 1451087 h 4920343"/>
              <a:gd name="connsiteX1" fmla="*/ 0 w 9985794"/>
              <a:gd name="connsiteY1" fmla="*/ 1451087 h 4920343"/>
              <a:gd name="connsiteX2" fmla="*/ 0 w 9985794"/>
              <a:gd name="connsiteY2" fmla="*/ 0 h 4920343"/>
              <a:gd name="connsiteX3" fmla="*/ 9985794 w 9985794"/>
              <a:gd name="connsiteY3" fmla="*/ 0 h 4920343"/>
              <a:gd name="connsiteX4" fmla="*/ 9985794 w 9985794"/>
              <a:gd name="connsiteY4" fmla="*/ 4920343 h 4920343"/>
              <a:gd name="connsiteX5" fmla="*/ 0 w 9985794"/>
              <a:gd name="connsiteY5" fmla="*/ 4920343 h 4920343"/>
              <a:gd name="connsiteX6" fmla="*/ 0 w 9985794"/>
              <a:gd name="connsiteY6" fmla="*/ 4119525 h 4920343"/>
              <a:gd name="connsiteX0" fmla="*/ 0 w 9985794"/>
              <a:gd name="connsiteY0" fmla="*/ 1451087 h 4920343"/>
              <a:gd name="connsiteX1" fmla="*/ 0 w 9985794"/>
              <a:gd name="connsiteY1" fmla="*/ 0 h 4920343"/>
              <a:gd name="connsiteX2" fmla="*/ 9985794 w 9985794"/>
              <a:gd name="connsiteY2" fmla="*/ 0 h 4920343"/>
              <a:gd name="connsiteX3" fmla="*/ 9985794 w 9985794"/>
              <a:gd name="connsiteY3" fmla="*/ 4920343 h 4920343"/>
              <a:gd name="connsiteX4" fmla="*/ 0 w 9985794"/>
              <a:gd name="connsiteY4" fmla="*/ 4920343 h 4920343"/>
              <a:gd name="connsiteX5" fmla="*/ 0 w 9985794"/>
              <a:gd name="connsiteY5" fmla="*/ 4119525 h 49203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985794" h="4920343">
                <a:moveTo>
                  <a:pt x="0" y="1451087"/>
                </a:moveTo>
                <a:lnTo>
                  <a:pt x="0" y="0"/>
                </a:lnTo>
                <a:lnTo>
                  <a:pt x="9985794" y="0"/>
                </a:lnTo>
                <a:lnTo>
                  <a:pt x="9985794" y="4920343"/>
                </a:lnTo>
                <a:lnTo>
                  <a:pt x="0" y="4920343"/>
                </a:lnTo>
                <a:lnTo>
                  <a:pt x="0" y="4119525"/>
                </a:lnTo>
              </a:path>
            </a:pathLst>
          </a:custGeom>
          <a:noFill/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89777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73FADC-EEE6-3321-F2A5-41DE55D698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/>
              <a:t>Introdução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77B2B8-5E0B-2AA3-7EB2-AF81779865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0" y="1975058"/>
            <a:ext cx="9601200" cy="404087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err="1"/>
              <a:t>Algoritmos</a:t>
            </a:r>
            <a:r>
              <a:rPr lang="en-US"/>
              <a:t> </a:t>
            </a:r>
            <a:r>
              <a:rPr lang="en-US" err="1"/>
              <a:t>buscam</a:t>
            </a:r>
            <a:r>
              <a:rPr lang="en-US"/>
              <a:t> </a:t>
            </a:r>
            <a:r>
              <a:rPr lang="en-US" err="1"/>
              <a:t>equilibrar</a:t>
            </a:r>
            <a:r>
              <a:rPr lang="en-US"/>
              <a:t> </a:t>
            </a:r>
            <a:r>
              <a:rPr lang="en-US" err="1"/>
              <a:t>eficiência</a:t>
            </a:r>
            <a:r>
              <a:rPr lang="en-US"/>
              <a:t> </a:t>
            </a:r>
            <a:r>
              <a:rPr lang="en-US" err="1"/>
              <a:t>computacional</a:t>
            </a:r>
            <a:r>
              <a:rPr lang="en-US"/>
              <a:t> e </a:t>
            </a:r>
            <a:r>
              <a:rPr lang="en-US" err="1"/>
              <a:t>precisão</a:t>
            </a:r>
            <a:r>
              <a:rPr lang="en-US"/>
              <a:t>.</a:t>
            </a:r>
          </a:p>
          <a:p>
            <a:r>
              <a:rPr lang="en-US" err="1"/>
              <a:t>Não</a:t>
            </a:r>
            <a:r>
              <a:rPr lang="en-US"/>
              <a:t> </a:t>
            </a:r>
            <a:r>
              <a:rPr lang="en-US" err="1"/>
              <a:t>exite</a:t>
            </a:r>
            <a:r>
              <a:rPr lang="en-US"/>
              <a:t> </a:t>
            </a:r>
            <a:r>
              <a:rPr lang="en-US" err="1"/>
              <a:t>uma</a:t>
            </a:r>
            <a:r>
              <a:rPr lang="en-US"/>
              <a:t> </a:t>
            </a:r>
            <a:r>
              <a:rPr lang="en-US" err="1"/>
              <a:t>abordagem</a:t>
            </a:r>
            <a:r>
              <a:rPr lang="en-US"/>
              <a:t> </a:t>
            </a:r>
            <a:r>
              <a:rPr lang="en-US" err="1"/>
              <a:t>única</a:t>
            </a:r>
            <a:r>
              <a:rPr lang="en-US"/>
              <a:t>, para </a:t>
            </a:r>
            <a:r>
              <a:rPr lang="en-US" err="1"/>
              <a:t>cada</a:t>
            </a:r>
            <a:r>
              <a:rPr lang="en-US"/>
              <a:t> </a:t>
            </a:r>
            <a:r>
              <a:rPr lang="en-US" err="1"/>
              <a:t>problema</a:t>
            </a:r>
            <a:r>
              <a:rPr lang="en-US"/>
              <a:t> </a:t>
            </a:r>
            <a:r>
              <a:rPr lang="en-US" err="1"/>
              <a:t>existe</a:t>
            </a:r>
            <a:r>
              <a:rPr lang="en-US"/>
              <a:t> </a:t>
            </a:r>
            <a:r>
              <a:rPr lang="en-US" err="1"/>
              <a:t>uma</a:t>
            </a:r>
            <a:r>
              <a:rPr lang="en-US"/>
              <a:t> </a:t>
            </a:r>
            <a:r>
              <a:rPr lang="en-US" err="1"/>
              <a:t>técnica</a:t>
            </a:r>
            <a:r>
              <a:rPr lang="en-US"/>
              <a:t> </a:t>
            </a:r>
            <a:r>
              <a:rPr lang="en-US" err="1"/>
              <a:t>que</a:t>
            </a:r>
            <a:r>
              <a:rPr lang="en-US"/>
              <a:t> </a:t>
            </a:r>
            <a:r>
              <a:rPr lang="en-US" err="1"/>
              <a:t>melhor</a:t>
            </a:r>
            <a:r>
              <a:rPr lang="en-US"/>
              <a:t> se </a:t>
            </a:r>
            <a:r>
              <a:rPr lang="en-US" err="1"/>
              <a:t>aplica</a:t>
            </a:r>
            <a:r>
              <a:rPr lang="en-US"/>
              <a:t>.</a:t>
            </a:r>
          </a:p>
          <a:p>
            <a:r>
              <a:rPr lang="en-US" err="1"/>
              <a:t>Estratégias</a:t>
            </a:r>
            <a:r>
              <a:rPr lang="en-US"/>
              <a:t> para </a:t>
            </a:r>
            <a:r>
              <a:rPr lang="en-US" err="1"/>
              <a:t>otimização</a:t>
            </a:r>
            <a:r>
              <a:rPr lang="en-US"/>
              <a:t> e </a:t>
            </a:r>
            <a:r>
              <a:rPr lang="en-US" err="1"/>
              <a:t>viabilidade</a:t>
            </a:r>
            <a:r>
              <a:rPr lang="en-US"/>
              <a:t> de </a:t>
            </a:r>
            <a:r>
              <a:rPr lang="en-US" err="1"/>
              <a:t>execução</a:t>
            </a:r>
            <a:r>
              <a:rPr lang="en-US"/>
              <a:t>:</a:t>
            </a:r>
          </a:p>
          <a:p>
            <a:pPr marL="474980" lvl="1">
              <a:buFont typeface="Courier New" panose="020B0604020202020204" pitchFamily="34" charset="0"/>
              <a:buChar char="o"/>
            </a:pPr>
            <a:r>
              <a:rPr lang="en-US" err="1"/>
              <a:t>Algoritmos</a:t>
            </a:r>
            <a:r>
              <a:rPr lang="en-US"/>
              <a:t> </a:t>
            </a:r>
            <a:r>
              <a:rPr lang="en-US" err="1"/>
              <a:t>Gulosos</a:t>
            </a:r>
            <a:endParaRPr lang="en-US"/>
          </a:p>
          <a:p>
            <a:pPr marL="474980" lvl="1">
              <a:buFont typeface="Courier New" panose="020B0604020202020204" pitchFamily="34" charset="0"/>
              <a:buChar char="o"/>
            </a:pPr>
            <a:r>
              <a:rPr lang="en-US" err="1"/>
              <a:t>Algoritmos</a:t>
            </a:r>
            <a:r>
              <a:rPr lang="en-US"/>
              <a:t> </a:t>
            </a:r>
            <a:r>
              <a:rPr lang="en-US" err="1"/>
              <a:t>Aproximativos</a:t>
            </a:r>
            <a:endParaRPr lang="en-US"/>
          </a:p>
          <a:p>
            <a:r>
              <a:rPr lang="en-US" err="1"/>
              <a:t>Métodos</a:t>
            </a:r>
            <a:r>
              <a:rPr lang="en-US"/>
              <a:t> para </a:t>
            </a:r>
            <a:r>
              <a:rPr lang="en-US" err="1"/>
              <a:t>resolução</a:t>
            </a:r>
            <a:r>
              <a:rPr lang="en-US"/>
              <a:t> de </a:t>
            </a:r>
            <a:r>
              <a:rPr lang="en-US" err="1"/>
              <a:t>problemas</a:t>
            </a:r>
            <a:r>
              <a:rPr lang="en-US"/>
              <a:t>:</a:t>
            </a:r>
          </a:p>
          <a:p>
            <a:pPr marL="474980" lvl="1">
              <a:buFont typeface="Courier New" panose="020B0604020202020204" pitchFamily="34" charset="0"/>
              <a:buChar char="o"/>
            </a:pPr>
            <a:r>
              <a:rPr lang="en-US" err="1"/>
              <a:t>Tentativa</a:t>
            </a:r>
            <a:r>
              <a:rPr lang="en-US"/>
              <a:t> e Erro</a:t>
            </a:r>
          </a:p>
          <a:p>
            <a:pPr marL="474980" lvl="1">
              <a:buFont typeface="Courier New" panose="020B0604020202020204" pitchFamily="34" charset="0"/>
              <a:buChar char="o"/>
            </a:pPr>
            <a:r>
              <a:rPr lang="en-US" err="1"/>
              <a:t>Divisão</a:t>
            </a:r>
            <a:r>
              <a:rPr lang="en-US"/>
              <a:t> e Conquista</a:t>
            </a:r>
          </a:p>
          <a:p>
            <a:pPr marL="474980" lvl="1">
              <a:buFont typeface="Courier New" panose="020B0604020202020204" pitchFamily="34" charset="0"/>
              <a:buChar char="o"/>
            </a:pPr>
            <a:r>
              <a:rPr lang="en-US" err="1"/>
              <a:t>Programação</a:t>
            </a:r>
            <a:r>
              <a:rPr lang="en-US"/>
              <a:t> </a:t>
            </a:r>
            <a:r>
              <a:rPr lang="en-US" err="1"/>
              <a:t>Dinâmica</a:t>
            </a:r>
            <a:endParaRPr lang="en-US"/>
          </a:p>
          <a:p>
            <a:pPr marL="474980" lvl="1">
              <a:buFont typeface="Courier New" panose="020B0604020202020204" pitchFamily="34" charset="0"/>
              <a:buChar char="o"/>
            </a:pPr>
            <a:endParaRPr lang="en-US"/>
          </a:p>
          <a:p>
            <a:pPr marL="246380" lvl="1" indent="0"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91092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28EE190-EDEC-71F0-4998-D9947BC272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/>
              <a:t>Algoritmos</a:t>
            </a:r>
            <a:r>
              <a:rPr lang="en-US"/>
              <a:t> </a:t>
            </a:r>
            <a:r>
              <a:rPr lang="en-US" err="1"/>
              <a:t>gulosos</a:t>
            </a:r>
            <a:endParaRPr lang="en-US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4D4B661-C394-C246-8B8E-16E08DBE44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pt-BR">
                <a:ea typeface="+mn-lt"/>
                <a:cs typeface="+mn-lt"/>
              </a:rPr>
              <a:t>É uma estratégia de otimização</a:t>
            </a:r>
          </a:p>
          <a:p>
            <a:r>
              <a:rPr lang="pt-BR" dirty="0"/>
              <a:t>Realizam a escolha que parece ser a melhor no momento na esperança de que a mesma leve a uma solução ou prevenção de futuros problemas a nível global.</a:t>
            </a:r>
          </a:p>
          <a:p>
            <a:r>
              <a:rPr lang="pt-BR"/>
              <a:t>Míope: ele toma decisões com base nas informações disponíveis na iteração corrente.</a:t>
            </a:r>
            <a:endParaRPr lang="pt-BR" dirty="0"/>
          </a:p>
          <a:p>
            <a:r>
              <a:rPr lang="pt-BR"/>
              <a:t>São simples e de fácil implementação.</a:t>
            </a:r>
          </a:p>
          <a:p>
            <a:r>
              <a:rPr lang="pt-BR" dirty="0"/>
              <a:t>Jamais se arrepende de uma decisão, as escolhas realizadas são definitivas, sem </a:t>
            </a:r>
            <a:r>
              <a:rPr lang="pt-BR" dirty="0" err="1"/>
              <a:t>backtracking</a:t>
            </a:r>
            <a:r>
              <a:rPr lang="pt-BR" dirty="0"/>
              <a:t>.</a:t>
            </a:r>
          </a:p>
          <a:p>
            <a:r>
              <a:rPr lang="pt-BR"/>
              <a:t>Nem sempre produz a melhor solução (depende da quantidade de informação fornecida).</a:t>
            </a:r>
          </a:p>
          <a:p>
            <a:endParaRPr lang="pt-BR"/>
          </a:p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586558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2E7D041-ED05-0EB6-9814-8DB845CBBA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0" y="411642"/>
            <a:ext cx="9601200" cy="1309687"/>
          </a:xfrm>
        </p:spPr>
        <p:txBody>
          <a:bodyPr/>
          <a:lstStyle/>
          <a:p>
            <a:r>
              <a:rPr lang="pt-BR"/>
              <a:t>Algoritmos gulosos – exemplo: sistema de troco</a:t>
            </a:r>
          </a:p>
        </p:txBody>
      </p:sp>
      <p:pic>
        <p:nvPicPr>
          <p:cNvPr id="4" name="Espaço Reservado para Conteúdo 3" descr="Texto&#10;&#10;O conteúdo gerado por IA pode estar incorreto.">
            <a:extLst>
              <a:ext uri="{FF2B5EF4-FFF2-40B4-BE49-F238E27FC236}">
                <a16:creationId xmlns:a16="http://schemas.microsoft.com/office/drawing/2014/main" id="{590E06DA-115C-1FFC-34C3-7975EF023E1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51139" y="1715849"/>
            <a:ext cx="10489721" cy="4836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32412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1F37A2-DDCD-635E-DAB9-D334342733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70B790F-8DEF-8256-028B-9F4165894B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0" y="411642"/>
            <a:ext cx="9744973" cy="1309687"/>
          </a:xfrm>
        </p:spPr>
        <p:txBody>
          <a:bodyPr>
            <a:normAutofit fontScale="90000"/>
          </a:bodyPr>
          <a:lstStyle/>
          <a:p>
            <a:r>
              <a:rPr lang="pt-BR"/>
              <a:t>Algoritmos gulosos – exemplo: sistema de troco (mal estruturado)</a:t>
            </a:r>
          </a:p>
        </p:txBody>
      </p:sp>
      <p:pic>
        <p:nvPicPr>
          <p:cNvPr id="10" name="Imagem 9" descr="Texto&#10;&#10;O conteúdo gerado por IA pode estar incorreto.">
            <a:extLst>
              <a:ext uri="{FF2B5EF4-FFF2-40B4-BE49-F238E27FC236}">
                <a16:creationId xmlns:a16="http://schemas.microsoft.com/office/drawing/2014/main" id="{6891C15F-A4BD-5B0F-2169-754625F4A50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-581"/>
          <a:stretch>
            <a:fillRect/>
          </a:stretch>
        </p:blipFill>
        <p:spPr>
          <a:xfrm>
            <a:off x="847725" y="1714500"/>
            <a:ext cx="10496550" cy="4981796"/>
          </a:xfrm>
          <a:prstGeom prst="rect">
            <a:avLst/>
          </a:prstGeom>
        </p:spPr>
      </p:pic>
      <p:sp>
        <p:nvSpPr>
          <p:cNvPr id="11" name="CaixaDeTexto 10">
            <a:extLst>
              <a:ext uri="{FF2B5EF4-FFF2-40B4-BE49-F238E27FC236}">
                <a16:creationId xmlns:a16="http://schemas.microsoft.com/office/drawing/2014/main" id="{54DE8594-1424-0B7A-E2B9-64B316A37E7F}"/>
              </a:ext>
            </a:extLst>
          </p:cNvPr>
          <p:cNvSpPr txBox="1"/>
          <p:nvPr/>
        </p:nvSpPr>
        <p:spPr>
          <a:xfrm>
            <a:off x="4798506" y="2545296"/>
            <a:ext cx="2743200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b="1">
                <a:solidFill>
                  <a:srgbClr val="FF0000"/>
                </a:solidFill>
              </a:rPr>
              <a:t>40, 30, 1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06171643-03D6-BC1E-93D2-B6AB38060FBE}"/>
              </a:ext>
            </a:extLst>
          </p:cNvPr>
          <p:cNvSpPr txBox="1"/>
          <p:nvPr/>
        </p:nvSpPr>
        <p:spPr>
          <a:xfrm>
            <a:off x="8190601" y="3830128"/>
            <a:ext cx="2743200" cy="365760"/>
          </a:xfrm>
          <a:prstGeom prst="rect">
            <a:avLst/>
          </a:prstGeom>
          <a:solidFill>
            <a:srgbClr val="FF0000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dirty="0"/>
              <a:t>Troco(</a:t>
            </a:r>
            <a:r>
              <a:rPr lang="pt-BR"/>
              <a:t>n) = 60 reais</a:t>
            </a:r>
          </a:p>
        </p:txBody>
      </p:sp>
    </p:spTree>
    <p:extLst>
      <p:ext uri="{BB962C8B-B14F-4D97-AF65-F5344CB8AC3E}">
        <p14:creationId xmlns:p14="http://schemas.microsoft.com/office/powerpoint/2010/main" val="33193709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B32C36A-542C-A204-5E5E-DB78A4D2CE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/>
              <a:t>Algoritmos</a:t>
            </a:r>
            <a:r>
              <a:rPr lang="en-US"/>
              <a:t> </a:t>
            </a:r>
            <a:r>
              <a:rPr lang="en-US" err="1"/>
              <a:t>aproximativos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DA15B39-3383-0C02-232C-552DAD71EB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pt-BR"/>
              <a:t>São aqueles que não garantem uma solução perfeita/correta, mas sim a mais próxima da realidade.</a:t>
            </a:r>
          </a:p>
          <a:p>
            <a:r>
              <a:rPr lang="pt-BR"/>
              <a:t>Sua proximidade com a realidade é medida pelo fator de aproximação (α).</a:t>
            </a:r>
          </a:p>
          <a:p>
            <a:r>
              <a:rPr lang="pt-BR"/>
              <a:t>Otimização.</a:t>
            </a:r>
          </a:p>
          <a:p>
            <a:pPr marL="474980" lvl="1">
              <a:buFont typeface="Courier New" panose="020B0604020202020204" pitchFamily="34" charset="0"/>
              <a:buChar char="o"/>
            </a:pPr>
            <a:r>
              <a:rPr lang="pt-BR"/>
              <a:t>Minimização.</a:t>
            </a:r>
          </a:p>
          <a:p>
            <a:pPr marL="474980" lvl="1">
              <a:buFont typeface="Courier New" panose="020B0604020202020204" pitchFamily="34" charset="0"/>
              <a:buChar char="o"/>
            </a:pPr>
            <a:r>
              <a:rPr lang="pt-BR"/>
              <a:t>Maximização.</a:t>
            </a:r>
          </a:p>
          <a:p>
            <a:r>
              <a:rPr lang="pt-BR"/>
              <a:t>Complexidade: O(</a:t>
            </a:r>
            <a:r>
              <a:rPr lang="pt-BR">
                <a:ea typeface="+mn-lt"/>
                <a:cs typeface="+mn-lt"/>
              </a:rPr>
              <a:t>n^k).</a:t>
            </a:r>
            <a:endParaRPr lang="pt-BR"/>
          </a:p>
          <a:p>
            <a:endParaRPr lang="pt-BR"/>
          </a:p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394658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89EF0F-CE83-5779-B3B2-8D82BD872E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/>
              <a:t>Algoritmos</a:t>
            </a:r>
            <a:r>
              <a:rPr lang="en-US"/>
              <a:t> </a:t>
            </a:r>
            <a:r>
              <a:rPr lang="en-US" err="1"/>
              <a:t>aproximativos</a:t>
            </a:r>
            <a:r>
              <a:rPr lang="en-US"/>
              <a:t> – </a:t>
            </a:r>
            <a:r>
              <a:rPr lang="en-US" err="1"/>
              <a:t>Exemplo</a:t>
            </a:r>
            <a:r>
              <a:rPr lang="en-US"/>
              <a:t>: O Caixeiro Vijante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4E855F-A586-8084-9B5C-80EDDDF0DE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err="1"/>
              <a:t>Visitar</a:t>
            </a:r>
            <a:r>
              <a:rPr lang="en-US"/>
              <a:t> 4 </a:t>
            </a:r>
            <a:r>
              <a:rPr lang="en-US" err="1"/>
              <a:t>clientes</a:t>
            </a:r>
            <a:r>
              <a:rPr lang="en-US"/>
              <a:t> e </a:t>
            </a:r>
            <a:r>
              <a:rPr lang="en-US" err="1"/>
              <a:t>voltar</a:t>
            </a:r>
            <a:r>
              <a:rPr lang="en-US"/>
              <a:t> a base </a:t>
            </a:r>
            <a:r>
              <a:rPr lang="en-US" err="1"/>
              <a:t>pelo</a:t>
            </a:r>
            <a:r>
              <a:rPr lang="en-US"/>
              <a:t> </a:t>
            </a:r>
            <a:r>
              <a:rPr lang="en-US" err="1"/>
              <a:t>caminho</a:t>
            </a:r>
            <a:r>
              <a:rPr lang="en-US"/>
              <a:t> </a:t>
            </a:r>
            <a:r>
              <a:rPr lang="en-US" err="1"/>
              <a:t>mais</a:t>
            </a:r>
            <a:r>
              <a:rPr lang="en-US"/>
              <a:t> </a:t>
            </a:r>
            <a:r>
              <a:rPr lang="en-US" err="1"/>
              <a:t>rápido</a:t>
            </a:r>
            <a:r>
              <a:rPr lang="en-US"/>
              <a:t>.</a:t>
            </a:r>
          </a:p>
          <a:p>
            <a:r>
              <a:rPr lang="en-US" err="1"/>
              <a:t>Escolhe</a:t>
            </a:r>
            <a:r>
              <a:rPr lang="en-US"/>
              <a:t> sempre o </a:t>
            </a:r>
            <a:r>
              <a:rPr lang="en-US" err="1"/>
              <a:t>cliente</a:t>
            </a:r>
            <a:r>
              <a:rPr lang="en-US"/>
              <a:t> </a:t>
            </a:r>
            <a:r>
              <a:rPr lang="en-US" err="1"/>
              <a:t>vizinho</a:t>
            </a:r>
            <a:r>
              <a:rPr lang="en-US"/>
              <a:t> </a:t>
            </a:r>
            <a:r>
              <a:rPr lang="en-US" err="1"/>
              <a:t>mais</a:t>
            </a:r>
            <a:r>
              <a:rPr lang="en-US"/>
              <a:t> </a:t>
            </a:r>
            <a:r>
              <a:rPr lang="en-US" err="1"/>
              <a:t>próximo</a:t>
            </a:r>
            <a:r>
              <a:rPr lang="en-US"/>
              <a:t>.</a:t>
            </a:r>
          </a:p>
          <a:p>
            <a:r>
              <a:rPr lang="en-US" err="1"/>
              <a:t>Não</a:t>
            </a:r>
            <a:r>
              <a:rPr lang="en-US"/>
              <a:t> </a:t>
            </a:r>
            <a:r>
              <a:rPr lang="en-US" err="1"/>
              <a:t>repete</a:t>
            </a:r>
            <a:r>
              <a:rPr lang="en-US"/>
              <a:t> </a:t>
            </a:r>
            <a:r>
              <a:rPr lang="en-US" err="1"/>
              <a:t>os</a:t>
            </a:r>
            <a:r>
              <a:rPr lang="en-US"/>
              <a:t> </a:t>
            </a:r>
            <a:r>
              <a:rPr lang="en-US" err="1"/>
              <a:t>vizinhos</a:t>
            </a:r>
            <a:r>
              <a:rPr lang="en-US"/>
              <a:t>.</a:t>
            </a:r>
          </a:p>
          <a:p>
            <a:r>
              <a:rPr lang="en-US" err="1"/>
              <a:t>Não</a:t>
            </a:r>
            <a:r>
              <a:rPr lang="en-US"/>
              <a:t> </a:t>
            </a:r>
            <a:r>
              <a:rPr lang="en-US" err="1"/>
              <a:t>descobre</a:t>
            </a:r>
            <a:r>
              <a:rPr lang="en-US"/>
              <a:t> o </a:t>
            </a:r>
            <a:r>
              <a:rPr lang="en-US" err="1"/>
              <a:t>caminho</a:t>
            </a:r>
            <a:r>
              <a:rPr lang="en-US"/>
              <a:t> </a:t>
            </a:r>
            <a:r>
              <a:rPr lang="en-US" err="1"/>
              <a:t>mais</a:t>
            </a:r>
            <a:r>
              <a:rPr lang="en-US"/>
              <a:t> </a:t>
            </a:r>
            <a:r>
              <a:rPr lang="en-US" err="1"/>
              <a:t>rápido</a:t>
            </a:r>
            <a:r>
              <a:rPr lang="en-US"/>
              <a:t> </a:t>
            </a:r>
            <a:r>
              <a:rPr lang="en-US" err="1"/>
              <a:t>necessariamente</a:t>
            </a:r>
            <a:r>
              <a:rPr lang="en-US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8987657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6928D2-8B93-666B-92E7-131ADFF549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6E1FFE26-CF41-E6D1-E95C-21EED2DADC3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9926" t="5290" r="16635" b="4437"/>
          <a:stretch>
            <a:fillRect/>
          </a:stretch>
        </p:blipFill>
        <p:spPr>
          <a:xfrm>
            <a:off x="2255691" y="348435"/>
            <a:ext cx="7684071" cy="6159245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D5A999B8-3903-24AC-ED2C-A414AD3BB0E1}"/>
              </a:ext>
            </a:extLst>
          </p:cNvPr>
          <p:cNvSpPr txBox="1"/>
          <p:nvPr/>
        </p:nvSpPr>
        <p:spPr>
          <a:xfrm>
            <a:off x="4370102" y="1182891"/>
            <a:ext cx="2743199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b="1">
                <a:solidFill>
                  <a:srgbClr val="FF0000"/>
                </a:solidFill>
              </a:rPr>
              <a:t>Tempo Total: 78 minutos</a:t>
            </a:r>
            <a:endParaRPr lang="pt-BR" b="1">
              <a:solidFill>
                <a:srgbClr val="DE438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199416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Espaço Reservado para Conteúdo 6" descr="Diagrama, Esquemático&#10;&#10;O conteúdo gerado por IA pode estar incorreto.">
            <a:extLst>
              <a:ext uri="{FF2B5EF4-FFF2-40B4-BE49-F238E27FC236}">
                <a16:creationId xmlns:a16="http://schemas.microsoft.com/office/drawing/2014/main" id="{B14AB971-90B1-67E8-251D-6292D723166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80182" y="376730"/>
            <a:ext cx="7631634" cy="6095386"/>
          </a:xfrm>
          <a:prstGeom prst="rect">
            <a:avLst/>
          </a:prstGeom>
        </p:spPr>
      </p:pic>
      <p:sp>
        <p:nvSpPr>
          <p:cNvPr id="9" name="CaixaDeTexto 8">
            <a:extLst>
              <a:ext uri="{FF2B5EF4-FFF2-40B4-BE49-F238E27FC236}">
                <a16:creationId xmlns:a16="http://schemas.microsoft.com/office/drawing/2014/main" id="{1F31DF42-D5FA-379E-24D5-C0CF414D0509}"/>
              </a:ext>
            </a:extLst>
          </p:cNvPr>
          <p:cNvSpPr txBox="1"/>
          <p:nvPr/>
        </p:nvSpPr>
        <p:spPr>
          <a:xfrm>
            <a:off x="4370102" y="1182891"/>
            <a:ext cx="2743199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b="1">
                <a:solidFill>
                  <a:srgbClr val="FF0000"/>
                </a:solidFill>
              </a:rPr>
              <a:t>Tempo Total: 75 minutos</a:t>
            </a:r>
            <a:endParaRPr lang="pt-BR" b="1">
              <a:solidFill>
                <a:srgbClr val="DE438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740612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1A952D-97ED-9905-F916-118D05FBAC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/>
              <a:t>Tentativa</a:t>
            </a:r>
            <a:r>
              <a:rPr lang="en-US"/>
              <a:t> e Erro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E8314C-FBAA-7F43-8FB7-119163EA18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Divide o </a:t>
            </a:r>
            <a:r>
              <a:rPr lang="en-US" err="1"/>
              <a:t>processo</a:t>
            </a:r>
            <a:r>
              <a:rPr lang="en-US"/>
              <a:t> </a:t>
            </a:r>
            <a:r>
              <a:rPr lang="en-US" err="1"/>
              <a:t>em</a:t>
            </a:r>
            <a:r>
              <a:rPr lang="en-US"/>
              <a:t> </a:t>
            </a:r>
            <a:r>
              <a:rPr lang="en-US" err="1"/>
              <a:t>subtarefas</a:t>
            </a:r>
            <a:r>
              <a:rPr lang="en-US"/>
              <a:t> </a:t>
            </a:r>
            <a:r>
              <a:rPr lang="en-US" err="1"/>
              <a:t>que</a:t>
            </a:r>
            <a:r>
              <a:rPr lang="en-US"/>
              <a:t> </a:t>
            </a:r>
            <a:r>
              <a:rPr lang="en-US" err="1"/>
              <a:t>são</a:t>
            </a:r>
            <a:r>
              <a:rPr lang="en-US"/>
              <a:t> </a:t>
            </a:r>
            <a:r>
              <a:rPr lang="en-US" err="1"/>
              <a:t>exploradas</a:t>
            </a:r>
            <a:r>
              <a:rPr lang="en-US"/>
              <a:t> </a:t>
            </a:r>
            <a:r>
              <a:rPr lang="en-US" err="1"/>
              <a:t>exaustivamente</a:t>
            </a:r>
            <a:r>
              <a:rPr lang="en-US"/>
              <a:t> </a:t>
            </a:r>
            <a:r>
              <a:rPr lang="en-US" err="1"/>
              <a:t>até</a:t>
            </a:r>
            <a:r>
              <a:rPr lang="en-US"/>
              <a:t> </a:t>
            </a:r>
            <a:r>
              <a:rPr lang="en-US" err="1"/>
              <a:t>encontrar</a:t>
            </a:r>
            <a:r>
              <a:rPr lang="en-US"/>
              <a:t> </a:t>
            </a:r>
            <a:r>
              <a:rPr lang="en-US" err="1"/>
              <a:t>uma</a:t>
            </a:r>
            <a:r>
              <a:rPr lang="en-US"/>
              <a:t> </a:t>
            </a:r>
            <a:r>
              <a:rPr lang="en-US" err="1"/>
              <a:t>possibilidade</a:t>
            </a:r>
            <a:r>
              <a:rPr lang="en-US"/>
              <a:t> </a:t>
            </a:r>
            <a:r>
              <a:rPr lang="en-US" err="1"/>
              <a:t>que</a:t>
            </a:r>
            <a:r>
              <a:rPr lang="en-US"/>
              <a:t> </a:t>
            </a:r>
            <a:r>
              <a:rPr lang="en-US" err="1"/>
              <a:t>satisfaça</a:t>
            </a:r>
            <a:r>
              <a:rPr lang="en-US"/>
              <a:t> as </a:t>
            </a:r>
            <a:r>
              <a:rPr lang="en-US" err="1"/>
              <a:t>condições</a:t>
            </a:r>
            <a:r>
              <a:rPr lang="en-US"/>
              <a:t> </a:t>
            </a:r>
            <a:r>
              <a:rPr lang="en-US" err="1"/>
              <a:t>desejadas</a:t>
            </a:r>
            <a:r>
              <a:rPr lang="en-US"/>
              <a:t>.</a:t>
            </a:r>
          </a:p>
          <a:p>
            <a:r>
              <a:rPr lang="en-US" err="1"/>
              <a:t>Executa</a:t>
            </a:r>
            <a:r>
              <a:rPr lang="en-US"/>
              <a:t> as </a:t>
            </a:r>
            <a:r>
              <a:rPr lang="en-US" err="1"/>
              <a:t>possibilidades</a:t>
            </a:r>
            <a:r>
              <a:rPr lang="en-US"/>
              <a:t> </a:t>
            </a:r>
            <a:r>
              <a:rPr lang="en-US" err="1"/>
              <a:t>passo</a:t>
            </a:r>
            <a:r>
              <a:rPr lang="en-US"/>
              <a:t> a </a:t>
            </a:r>
            <a:r>
              <a:rPr lang="en-US" err="1"/>
              <a:t>passo</a:t>
            </a:r>
            <a:r>
              <a:rPr lang="en-US"/>
              <a:t>, </a:t>
            </a:r>
            <a:r>
              <a:rPr lang="en-US" err="1"/>
              <a:t>excluindo</a:t>
            </a:r>
            <a:r>
              <a:rPr lang="en-US"/>
              <a:t> </a:t>
            </a:r>
            <a:r>
              <a:rPr lang="en-US" err="1"/>
              <a:t>os</a:t>
            </a:r>
            <a:r>
              <a:rPr lang="en-US"/>
              <a:t> </a:t>
            </a:r>
            <a:r>
              <a:rPr lang="en-US" err="1"/>
              <a:t>passos</a:t>
            </a:r>
            <a:r>
              <a:rPr lang="en-US"/>
              <a:t> </a:t>
            </a:r>
            <a:r>
              <a:rPr lang="en-US" err="1"/>
              <a:t>que</a:t>
            </a:r>
            <a:r>
              <a:rPr lang="en-US"/>
              <a:t> </a:t>
            </a:r>
            <a:r>
              <a:rPr lang="en-US" err="1"/>
              <a:t>não</a:t>
            </a:r>
            <a:r>
              <a:rPr lang="en-US"/>
              <a:t> </a:t>
            </a:r>
            <a:r>
              <a:rPr lang="en-US" err="1"/>
              <a:t>possibilitam</a:t>
            </a:r>
            <a:r>
              <a:rPr lang="en-US"/>
              <a:t> </a:t>
            </a:r>
            <a:r>
              <a:rPr lang="en-US" err="1"/>
              <a:t>chegar</a:t>
            </a:r>
            <a:r>
              <a:rPr lang="en-US"/>
              <a:t> à </a:t>
            </a:r>
            <a:r>
              <a:rPr lang="en-US" err="1"/>
              <a:t>solução</a:t>
            </a:r>
            <a:r>
              <a:rPr lang="en-US"/>
              <a:t> final.</a:t>
            </a:r>
          </a:p>
          <a:p>
            <a:r>
              <a:rPr lang="en-US" err="1"/>
              <a:t>Utiliza</a:t>
            </a:r>
            <a:r>
              <a:rPr lang="en-US"/>
              <a:t> </a:t>
            </a:r>
            <a:r>
              <a:rPr lang="en-US" err="1"/>
              <a:t>Recursividade</a:t>
            </a:r>
            <a:r>
              <a:rPr lang="en-US"/>
              <a:t>.</a:t>
            </a:r>
          </a:p>
          <a:p>
            <a:r>
              <a:rPr lang="en-US" err="1"/>
              <a:t>Complexidade</a:t>
            </a:r>
            <a:r>
              <a:rPr lang="en-US"/>
              <a:t>: O(n!).</a:t>
            </a:r>
          </a:p>
          <a:p>
            <a:r>
              <a:rPr lang="en-US"/>
              <a:t>Backtracking é </a:t>
            </a:r>
            <a:r>
              <a:rPr lang="en-US" err="1"/>
              <a:t>uma</a:t>
            </a:r>
            <a:r>
              <a:rPr lang="en-US"/>
              <a:t> </a:t>
            </a:r>
            <a:r>
              <a:rPr lang="en-US" err="1"/>
              <a:t>refinação</a:t>
            </a:r>
            <a:r>
              <a:rPr lang="en-US"/>
              <a:t> da </a:t>
            </a:r>
            <a:r>
              <a:rPr lang="en-US" err="1"/>
              <a:t>tentativa</a:t>
            </a:r>
            <a:r>
              <a:rPr lang="en-US"/>
              <a:t> e </a:t>
            </a:r>
            <a:r>
              <a:rPr lang="en-US" err="1"/>
              <a:t>erro</a:t>
            </a:r>
            <a:r>
              <a:rPr lang="en-US"/>
              <a:t>, pois </a:t>
            </a:r>
            <a:r>
              <a:rPr lang="en-US" err="1"/>
              <a:t>abandona</a:t>
            </a:r>
            <a:r>
              <a:rPr lang="en-US"/>
              <a:t> a </a:t>
            </a:r>
            <a:r>
              <a:rPr lang="en-US" err="1"/>
              <a:t>possibilidade</a:t>
            </a:r>
            <a:r>
              <a:rPr lang="en-US"/>
              <a:t> </a:t>
            </a:r>
            <a:r>
              <a:rPr lang="en-US" err="1"/>
              <a:t>assim</a:t>
            </a:r>
            <a:r>
              <a:rPr lang="en-US"/>
              <a:t> </a:t>
            </a:r>
            <a:r>
              <a:rPr lang="en-US" err="1"/>
              <a:t>que</a:t>
            </a:r>
            <a:r>
              <a:rPr lang="en-US"/>
              <a:t> </a:t>
            </a:r>
            <a:r>
              <a:rPr lang="en-US" err="1"/>
              <a:t>percebe</a:t>
            </a:r>
            <a:r>
              <a:rPr lang="en-US"/>
              <a:t> </a:t>
            </a:r>
            <a:r>
              <a:rPr lang="en-US" err="1"/>
              <a:t>que</a:t>
            </a:r>
            <a:r>
              <a:rPr lang="en-US"/>
              <a:t> </a:t>
            </a:r>
            <a:r>
              <a:rPr lang="en-US" err="1"/>
              <a:t>ela</a:t>
            </a:r>
            <a:r>
              <a:rPr lang="en-US"/>
              <a:t> </a:t>
            </a:r>
            <a:r>
              <a:rPr lang="en-US" err="1"/>
              <a:t>não</a:t>
            </a:r>
            <a:r>
              <a:rPr lang="en-US"/>
              <a:t> </a:t>
            </a:r>
            <a:r>
              <a:rPr lang="en-US" err="1"/>
              <a:t>poderá</a:t>
            </a:r>
            <a:r>
              <a:rPr lang="en-US"/>
              <a:t> </a:t>
            </a:r>
            <a:r>
              <a:rPr lang="en-US" err="1"/>
              <a:t>levar</a:t>
            </a:r>
            <a:r>
              <a:rPr lang="en-US"/>
              <a:t> </a:t>
            </a:r>
            <a:r>
              <a:rPr lang="en-US" err="1"/>
              <a:t>ao</a:t>
            </a:r>
            <a:r>
              <a:rPr lang="en-US"/>
              <a:t> </a:t>
            </a:r>
            <a:r>
              <a:rPr lang="en-US" err="1"/>
              <a:t>resultado</a:t>
            </a:r>
            <a:r>
              <a:rPr lang="en-US"/>
              <a:t> </a:t>
            </a:r>
            <a:r>
              <a:rPr lang="en-US" err="1"/>
              <a:t>desejado</a:t>
            </a:r>
            <a:r>
              <a:rPr lang="en-US"/>
              <a:t>.</a:t>
            </a:r>
          </a:p>
          <a:p>
            <a:endParaRPr lang="en-US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69825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917126-774B-64E1-E030-1CCE2E9D88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C99F40-309A-D30D-31AD-062FF0BD9D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/>
              <a:t>Tentativa</a:t>
            </a:r>
            <a:r>
              <a:rPr lang="en-US"/>
              <a:t> e Erro – </a:t>
            </a:r>
            <a:r>
              <a:rPr lang="en-US" err="1"/>
              <a:t>Exemplo</a:t>
            </a:r>
            <a:r>
              <a:rPr lang="en-US"/>
              <a:t>: </a:t>
            </a:r>
            <a:r>
              <a:rPr lang="en-US" err="1"/>
              <a:t>Labirinto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959D32-B912-EA64-190B-8A4D90A3ED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Dado um </a:t>
            </a:r>
            <a:r>
              <a:rPr lang="en-US" err="1"/>
              <a:t>labirinto</a:t>
            </a:r>
            <a:r>
              <a:rPr lang="en-US"/>
              <a:t>, a </a:t>
            </a:r>
            <a:r>
              <a:rPr lang="en-US" err="1"/>
              <a:t>cada</a:t>
            </a:r>
            <a:r>
              <a:rPr lang="en-US"/>
              <a:t> </a:t>
            </a:r>
            <a:r>
              <a:rPr lang="en-US" err="1"/>
              <a:t>intersecção</a:t>
            </a:r>
            <a:r>
              <a:rPr lang="en-US"/>
              <a:t> é </a:t>
            </a:r>
            <a:r>
              <a:rPr lang="en-US" err="1"/>
              <a:t>necessário</a:t>
            </a:r>
            <a:r>
              <a:rPr lang="en-US"/>
              <a:t> </a:t>
            </a:r>
            <a:r>
              <a:rPr lang="en-US" err="1"/>
              <a:t>decidir</a:t>
            </a:r>
            <a:r>
              <a:rPr lang="en-US"/>
              <a:t> qual </a:t>
            </a:r>
            <a:r>
              <a:rPr lang="en-US" err="1"/>
              <a:t>caminho</a:t>
            </a:r>
            <a:r>
              <a:rPr lang="en-US"/>
              <a:t> </a:t>
            </a:r>
            <a:r>
              <a:rPr lang="en-US" err="1"/>
              <a:t>tomar</a:t>
            </a:r>
            <a:r>
              <a:rPr lang="en-US"/>
              <a:t>. </a:t>
            </a:r>
          </a:p>
          <a:p>
            <a:r>
              <a:rPr lang="en-US"/>
              <a:t>Essa </a:t>
            </a:r>
            <a:r>
              <a:rPr lang="en-US" err="1"/>
              <a:t>decisão</a:t>
            </a:r>
            <a:r>
              <a:rPr lang="en-US"/>
              <a:t> é </a:t>
            </a:r>
            <a:r>
              <a:rPr lang="en-US" err="1"/>
              <a:t>feita</a:t>
            </a:r>
            <a:r>
              <a:rPr lang="en-US"/>
              <a:t> </a:t>
            </a:r>
            <a:r>
              <a:rPr lang="en-US" err="1"/>
              <a:t>sem</a:t>
            </a:r>
            <a:r>
              <a:rPr lang="en-US"/>
              <a:t> </a:t>
            </a:r>
            <a:r>
              <a:rPr lang="en-US" err="1"/>
              <a:t>informações</a:t>
            </a:r>
            <a:r>
              <a:rPr lang="en-US"/>
              <a:t> </a:t>
            </a:r>
            <a:r>
              <a:rPr lang="en-US" err="1"/>
              <a:t>suficientes</a:t>
            </a:r>
            <a:r>
              <a:rPr lang="en-US"/>
              <a:t> para </a:t>
            </a:r>
            <a:r>
              <a:rPr lang="en-US" err="1"/>
              <a:t>uma</a:t>
            </a:r>
            <a:r>
              <a:rPr lang="en-US"/>
              <a:t> </a:t>
            </a:r>
            <a:r>
              <a:rPr lang="en-US" err="1"/>
              <a:t>escolha</a:t>
            </a:r>
            <a:r>
              <a:rPr lang="en-US"/>
              <a:t> </a:t>
            </a:r>
            <a:r>
              <a:rPr lang="en-US" err="1"/>
              <a:t>precisa</a:t>
            </a:r>
            <a:r>
              <a:rPr lang="en-US"/>
              <a:t>.</a:t>
            </a:r>
          </a:p>
          <a:p>
            <a:r>
              <a:rPr lang="en-US"/>
              <a:t>Cada </a:t>
            </a:r>
            <a:r>
              <a:rPr lang="en-US" err="1"/>
              <a:t>escolha</a:t>
            </a:r>
            <a:r>
              <a:rPr lang="en-US"/>
              <a:t> leva à outro conjunto de </a:t>
            </a:r>
            <a:r>
              <a:rPr lang="en-US" err="1"/>
              <a:t>escolhas</a:t>
            </a:r>
            <a:r>
              <a:rPr lang="en-US"/>
              <a:t>.</a:t>
            </a:r>
          </a:p>
          <a:p>
            <a:endParaRPr lang="en-US"/>
          </a:p>
          <a:p>
            <a:endParaRPr lang="en-US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9372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F45D8D-B109-5A96-C45F-C0452992AA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55047D-FBFA-C0EC-9A9D-F0456AB960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/>
              <a:t>Tentativa</a:t>
            </a:r>
            <a:r>
              <a:rPr lang="en-US"/>
              <a:t> e Erro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6DF15CE-5600-EED4-9A25-36046A9899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8042" y="2153459"/>
            <a:ext cx="7595917" cy="40031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08659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FFD7BD7-176C-C568-5725-F80D5D0A7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Divisão e conquista 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4ECF8FD-C26A-5346-C085-CE9B0DA6FD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pt-BR"/>
              <a:t>Estratégia de resolução de problemas</a:t>
            </a:r>
            <a:endParaRPr lang="pt-BR" dirty="0"/>
          </a:p>
          <a:p>
            <a:r>
              <a:rPr lang="pt-BR"/>
              <a:t>Dividir, Conquistar e Combinar.</a:t>
            </a:r>
          </a:p>
          <a:p>
            <a:r>
              <a:rPr lang="pt-BR"/>
              <a:t>Quebra o problema em subproblemas que são similares ao problema original.</a:t>
            </a:r>
          </a:p>
          <a:p>
            <a:r>
              <a:rPr lang="pt-BR"/>
              <a:t>Recursivamente resolve os subproblemas.</a:t>
            </a:r>
          </a:p>
          <a:p>
            <a:r>
              <a:rPr lang="pt-BR"/>
              <a:t>Finalmente combina as soluções para resolver o problema original.</a:t>
            </a:r>
          </a:p>
          <a:p>
            <a:r>
              <a:rPr lang="pt-BR" dirty="0"/>
              <a:t>Vantagens: crescimento O(n log n)</a:t>
            </a:r>
          </a:p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069344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8ECF7FC-829C-527D-418C-DA47EA30E0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0" y="354133"/>
            <a:ext cx="8077200" cy="1367196"/>
          </a:xfrm>
        </p:spPr>
        <p:txBody>
          <a:bodyPr/>
          <a:lstStyle/>
          <a:p>
            <a:r>
              <a:rPr lang="pt-BR"/>
              <a:t>Divisão e conquista – exemplo: </a:t>
            </a:r>
            <a:r>
              <a:rPr lang="pt-BR" err="1"/>
              <a:t>QuickSORt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7506A5A-E3F6-70A1-7FA8-782AD43C11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endParaRPr lang="pt-BR"/>
          </a:p>
          <a:p>
            <a:endParaRPr lang="pt-BR">
              <a:latin typeface="Univers Light"/>
              <a:ea typeface="Calibri"/>
              <a:cs typeface="Calibri"/>
            </a:endParaRPr>
          </a:p>
        </p:txBody>
      </p:sp>
      <p:pic>
        <p:nvPicPr>
          <p:cNvPr id="4" name="Imagem 3" descr="Teclado de computador com texto preto sobre fundo branco&#10;&#10;O conteúdo gerado por IA pode estar incorreto.">
            <a:extLst>
              <a:ext uri="{FF2B5EF4-FFF2-40B4-BE49-F238E27FC236}">
                <a16:creationId xmlns:a16="http://schemas.microsoft.com/office/drawing/2014/main" id="{875FA00F-7817-3903-FB7E-0E262FA6BB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4601" y="1712076"/>
            <a:ext cx="7428421" cy="46127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83340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02EFCD-A7BA-7985-7499-08533F5B12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9661FA3-D23A-E68B-3342-532962EAE6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0" y="354133"/>
            <a:ext cx="8077200" cy="1367196"/>
          </a:xfrm>
        </p:spPr>
        <p:txBody>
          <a:bodyPr/>
          <a:lstStyle/>
          <a:p>
            <a:r>
              <a:rPr lang="pt-BR"/>
              <a:t>Divisão e conquista – exemplo: </a:t>
            </a:r>
            <a:r>
              <a:rPr lang="pt-BR" err="1"/>
              <a:t>QuickSORt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2A44725-2752-0B7E-57A8-3CBE4954F2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endParaRPr lang="pt-BR"/>
          </a:p>
          <a:p>
            <a:endParaRPr lang="pt-BR">
              <a:latin typeface="Univers Light"/>
              <a:ea typeface="Calibri"/>
              <a:cs typeface="Calibri"/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F2AFC3D6-88CB-7782-CE3C-FF900AE647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3175" y="1718633"/>
            <a:ext cx="7105650" cy="4743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79567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B7802C-DF2B-F65E-3D58-81479DDC2B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9E923A5-45B3-1239-30E8-A5ECE45FB0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0" y="354133"/>
            <a:ext cx="8077200" cy="1367196"/>
          </a:xfrm>
        </p:spPr>
        <p:txBody>
          <a:bodyPr/>
          <a:lstStyle/>
          <a:p>
            <a:r>
              <a:rPr lang="pt-BR"/>
              <a:t>Divisão e conquista – exemplo: </a:t>
            </a:r>
            <a:r>
              <a:rPr lang="pt-BR" err="1"/>
              <a:t>QuickSORt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2C488C3-86A9-D75B-E8A8-B046753A35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endParaRPr lang="pt-BR"/>
          </a:p>
          <a:p>
            <a:endParaRPr lang="pt-BR">
              <a:latin typeface="Univers Light"/>
              <a:ea typeface="Calibri"/>
              <a:cs typeface="Calibri"/>
            </a:endParaRPr>
          </a:p>
        </p:txBody>
      </p:sp>
      <p:pic>
        <p:nvPicPr>
          <p:cNvPr id="4" name="Imagem 3" descr="Uma imagem contendo Forma&#10;&#10;O conteúdo gerado por IA pode estar incorreto.">
            <a:extLst>
              <a:ext uri="{FF2B5EF4-FFF2-40B4-BE49-F238E27FC236}">
                <a16:creationId xmlns:a16="http://schemas.microsoft.com/office/drawing/2014/main" id="{AD52558F-FDC3-2350-98E5-12FC227F74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4191" y="2218158"/>
            <a:ext cx="8089241" cy="2407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18125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6B2EA76-BE4B-E606-5554-F30160194F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Programação dinâmica 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EEB672C-DD21-2714-8D79-A6F7BA7A42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pt-BR"/>
              <a:t>Para que o método da programação dinâmica possa ser aplicado, é preciso que o problema tenha estrutura recursiva: </a:t>
            </a:r>
          </a:p>
          <a:p>
            <a:pPr marL="474980" lvl="1">
              <a:buFont typeface="Courier New" panose="020B0604020202020204" pitchFamily="34" charset="0"/>
              <a:buChar char="o"/>
            </a:pPr>
            <a:r>
              <a:rPr lang="pt-BR"/>
              <a:t>A solução de toda instância do problema deve conter soluções de </a:t>
            </a:r>
            <a:r>
              <a:rPr lang="pt-BR" err="1"/>
              <a:t>subinstâncias</a:t>
            </a:r>
            <a:r>
              <a:rPr lang="pt-BR"/>
              <a:t> da instância.</a:t>
            </a:r>
          </a:p>
          <a:p>
            <a:r>
              <a:rPr lang="pt-BR"/>
              <a:t>A essência da programação dinâmica é evitar cálculos repetitivos.</a:t>
            </a:r>
          </a:p>
          <a:p>
            <a:r>
              <a:rPr lang="pt-BR"/>
              <a:t>Armazena as soluções das </a:t>
            </a:r>
            <a:r>
              <a:rPr lang="pt-BR" err="1"/>
              <a:t>subinstância</a:t>
            </a:r>
            <a:r>
              <a:rPr lang="pt-BR"/>
              <a:t> numa tabela e assim evitar que elas sejam recalculadas.</a:t>
            </a:r>
          </a:p>
        </p:txBody>
      </p:sp>
    </p:spTree>
    <p:extLst>
      <p:ext uri="{BB962C8B-B14F-4D97-AF65-F5344CB8AC3E}">
        <p14:creationId xmlns:p14="http://schemas.microsoft.com/office/powerpoint/2010/main" val="3350114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8F8CF1-6E38-60DA-4C74-A366BF87DE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Programação dinâmica - Exemplo: 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961A4E5-11E0-B2F1-CC52-23182AE700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0" y="2262188"/>
            <a:ext cx="9601200" cy="400314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pt-BR"/>
              <a:t>Sequência de Fibonacci.</a:t>
            </a:r>
          </a:p>
          <a:p>
            <a:pPr marL="474980" lvl="1">
              <a:buFont typeface="Courier New" panose="020B0604020202020204" pitchFamily="34" charset="0"/>
              <a:buChar char="o"/>
            </a:pPr>
            <a:r>
              <a:rPr lang="pt-BR"/>
              <a:t>F(n) = F(n − 1) + F(n − 2) --&gt; a partir dos valores iniciais F(0) = 0 e F(1) = 1</a:t>
            </a:r>
          </a:p>
          <a:p>
            <a:pPr marL="474980" lvl="1">
              <a:buFont typeface="Courier New" panose="020B0604020202020204" pitchFamily="34" charset="0"/>
              <a:buChar char="o"/>
            </a:pPr>
            <a:r>
              <a:rPr lang="pt-BR"/>
              <a:t>O(2^n)  --&gt;  O(n)</a:t>
            </a:r>
          </a:p>
          <a:p>
            <a:pPr marL="474980" lvl="1">
              <a:buFont typeface="Courier New" panose="020B0604020202020204" pitchFamily="34" charset="0"/>
              <a:buChar char="o"/>
            </a:pPr>
            <a:endParaRPr lang="pt-BR"/>
          </a:p>
        </p:txBody>
      </p:sp>
      <p:graphicFrame>
        <p:nvGraphicFramePr>
          <p:cNvPr id="5" name="Tabela 4">
            <a:extLst>
              <a:ext uri="{FF2B5EF4-FFF2-40B4-BE49-F238E27FC236}">
                <a16:creationId xmlns:a16="http://schemas.microsoft.com/office/drawing/2014/main" id="{C5ABC1FE-5CE2-121B-CBB1-3D588E682EF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89923172"/>
              </p:ext>
            </p:extLst>
          </p:nvPr>
        </p:nvGraphicFramePr>
        <p:xfrm>
          <a:off x="1682750" y="3903980"/>
          <a:ext cx="3323157" cy="201168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323157">
                  <a:extLst>
                    <a:ext uri="{9D8B030D-6E8A-4147-A177-3AD203B41FA5}">
                      <a16:colId xmlns:a16="http://schemas.microsoft.com/office/drawing/2014/main" val="267070052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r>
                        <a:rPr lang="pt-BR" b="0" cap="small" err="1">
                          <a:effectLst/>
                        </a:rPr>
                        <a:t>Fib</a:t>
                      </a:r>
                      <a:r>
                        <a:rPr lang="pt-BR" b="0">
                          <a:effectLst/>
                        </a:rPr>
                        <a:t> (</a:t>
                      </a:r>
                      <a:r>
                        <a:rPr lang="pt-BR" b="0" i="1">
                          <a:effectLst/>
                        </a:rPr>
                        <a:t>n</a:t>
                      </a:r>
                      <a:r>
                        <a:rPr lang="pt-BR" b="0">
                          <a:effectLst/>
                        </a:rPr>
                        <a:t>) {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44714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b">
                        <a:buNone/>
                      </a:pPr>
                      <a:r>
                        <a:rPr lang="pt-BR" b="1" i="0">
                          <a:effectLst/>
                        </a:rPr>
                        <a:t>1</a:t>
                      </a:r>
                      <a:r>
                        <a:rPr lang="pt-BR">
                          <a:effectLst/>
                        </a:rPr>
                        <a:t>  se </a:t>
                      </a:r>
                      <a:r>
                        <a:rPr lang="pt-BR" i="1">
                          <a:effectLst/>
                        </a:rPr>
                        <a:t>n</a:t>
                      </a:r>
                      <a:r>
                        <a:rPr lang="pt-BR">
                          <a:effectLst/>
                        </a:rPr>
                        <a:t> ≤ 1</a:t>
                      </a:r>
                    </a:p>
                  </a:txBody>
                  <a:tcPr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76133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b">
                        <a:buNone/>
                      </a:pPr>
                      <a:r>
                        <a:rPr lang="pt-BR" b="1">
                          <a:effectLst/>
                        </a:rPr>
                        <a:t>2 </a:t>
                      </a:r>
                      <a:r>
                        <a:rPr lang="pt-BR">
                          <a:effectLst/>
                        </a:rPr>
                        <a:t> devolva </a:t>
                      </a:r>
                      <a:r>
                        <a:rPr lang="pt-BR" i="1">
                          <a:effectLst/>
                        </a:rPr>
                        <a:t>n</a:t>
                      </a:r>
                      <a:r>
                        <a:rPr lang="pt-BR">
                          <a:effectLst/>
                        </a:rPr>
                        <a:t> e pare</a:t>
                      </a:r>
                    </a:p>
                  </a:txBody>
                  <a:tcPr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239616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b">
                        <a:buNone/>
                      </a:pPr>
                      <a:r>
                        <a:rPr lang="pt-BR" b="1">
                          <a:effectLst/>
                        </a:rPr>
                        <a:t>3</a:t>
                      </a:r>
                      <a:r>
                        <a:rPr lang="pt-BR">
                          <a:effectLst/>
                        </a:rPr>
                        <a:t>  devolva </a:t>
                      </a:r>
                      <a:r>
                        <a:rPr lang="pt-BR" cap="small" err="1">
                          <a:effectLst/>
                        </a:rPr>
                        <a:t>Fib</a:t>
                      </a:r>
                      <a:r>
                        <a:rPr lang="pt-BR">
                          <a:effectLst/>
                        </a:rPr>
                        <a:t> (</a:t>
                      </a:r>
                      <a:r>
                        <a:rPr lang="pt-BR" i="1">
                          <a:effectLst/>
                        </a:rPr>
                        <a:t>n</a:t>
                      </a:r>
                      <a:r>
                        <a:rPr lang="pt-BR">
                          <a:effectLst/>
                        </a:rPr>
                        <a:t> − 1) + </a:t>
                      </a:r>
                      <a:r>
                        <a:rPr lang="pt-BR" cap="small" err="1">
                          <a:effectLst/>
                        </a:rPr>
                        <a:t>Fib</a:t>
                      </a:r>
                      <a:r>
                        <a:rPr lang="pt-BR">
                          <a:effectLst/>
                        </a:rPr>
                        <a:t> (</a:t>
                      </a:r>
                      <a:r>
                        <a:rPr lang="pt-BR" i="1">
                          <a:effectLst/>
                        </a:rPr>
                        <a:t>n</a:t>
                      </a:r>
                      <a:r>
                        <a:rPr lang="pt-BR">
                          <a:effectLst/>
                        </a:rPr>
                        <a:t> − 2)</a:t>
                      </a:r>
                    </a:p>
                    <a:p>
                      <a:pPr lvl="0">
                        <a:buNone/>
                      </a:pPr>
                      <a:r>
                        <a:rPr lang="pt-BR">
                          <a:effectLst/>
                        </a:rPr>
                        <a:t>}</a:t>
                      </a:r>
                    </a:p>
                  </a:txBody>
                  <a:tcPr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4386353"/>
                  </a:ext>
                </a:extLst>
              </a:tr>
            </a:tbl>
          </a:graphicData>
        </a:graphic>
      </p:graphicFrame>
      <p:graphicFrame>
        <p:nvGraphicFramePr>
          <p:cNvPr id="7" name="Tabela 6">
            <a:extLst>
              <a:ext uri="{FF2B5EF4-FFF2-40B4-BE49-F238E27FC236}">
                <a16:creationId xmlns:a16="http://schemas.microsoft.com/office/drawing/2014/main" id="{761CA6E8-516F-F7CB-4D65-8D24D2D9DF2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7053552"/>
              </p:ext>
            </p:extLst>
          </p:nvPr>
        </p:nvGraphicFramePr>
        <p:xfrm>
          <a:off x="6096000" y="3524250"/>
          <a:ext cx="2434166" cy="274320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434166">
                  <a:extLst>
                    <a:ext uri="{9D8B030D-6E8A-4147-A177-3AD203B41FA5}">
                      <a16:colId xmlns:a16="http://schemas.microsoft.com/office/drawing/2014/main" val="322028261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r>
                        <a:rPr lang="pt-BR" b="0" cap="small" err="1">
                          <a:effectLst/>
                        </a:rPr>
                        <a:t>Fib</a:t>
                      </a:r>
                      <a:r>
                        <a:rPr lang="pt-BR" b="0" cap="small">
                          <a:effectLst/>
                        </a:rPr>
                        <a:t>-PD</a:t>
                      </a:r>
                      <a:r>
                        <a:rPr lang="pt-BR" b="0">
                          <a:effectLst/>
                        </a:rPr>
                        <a:t> (</a:t>
                      </a:r>
                      <a:r>
                        <a:rPr lang="pt-BR" b="0" i="1">
                          <a:effectLst/>
                        </a:rPr>
                        <a:t>n</a:t>
                      </a:r>
                      <a:r>
                        <a:rPr lang="pt-BR" b="0">
                          <a:effectLst/>
                        </a:rPr>
                        <a:t>) {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38487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b">
                        <a:buNone/>
                      </a:pPr>
                      <a:r>
                        <a:rPr lang="pt-BR" b="1">
                          <a:effectLst/>
                        </a:rPr>
                        <a:t>1</a:t>
                      </a:r>
                      <a:r>
                        <a:rPr lang="pt-BR">
                          <a:effectLst/>
                        </a:rPr>
                        <a:t>  </a:t>
                      </a:r>
                      <a:r>
                        <a:rPr lang="pt-BR" i="1">
                          <a:effectLst/>
                        </a:rPr>
                        <a:t>f</a:t>
                      </a:r>
                      <a:r>
                        <a:rPr lang="pt-BR">
                          <a:effectLst/>
                        </a:rPr>
                        <a:t> [0] := 0</a:t>
                      </a:r>
                    </a:p>
                  </a:txBody>
                  <a:tcPr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16141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b">
                        <a:buNone/>
                      </a:pPr>
                      <a:r>
                        <a:rPr lang="pt-BR" b="1">
                          <a:effectLst/>
                        </a:rPr>
                        <a:t>2</a:t>
                      </a:r>
                      <a:r>
                        <a:rPr lang="pt-BR">
                          <a:effectLst/>
                        </a:rPr>
                        <a:t>  </a:t>
                      </a:r>
                      <a:r>
                        <a:rPr lang="pt-BR" i="1">
                          <a:effectLst/>
                        </a:rPr>
                        <a:t>f</a:t>
                      </a:r>
                      <a:r>
                        <a:rPr lang="pt-BR">
                          <a:effectLst/>
                        </a:rPr>
                        <a:t> [1] := 1</a:t>
                      </a:r>
                    </a:p>
                  </a:txBody>
                  <a:tcPr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77766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b">
                        <a:buNone/>
                      </a:pPr>
                      <a:r>
                        <a:rPr lang="pt-BR" b="1">
                          <a:effectLst/>
                        </a:rPr>
                        <a:t>3</a:t>
                      </a:r>
                      <a:r>
                        <a:rPr lang="pt-BR">
                          <a:effectLst/>
                        </a:rPr>
                        <a:t>  para </a:t>
                      </a:r>
                      <a:r>
                        <a:rPr lang="pt-BR" i="1">
                          <a:effectLst/>
                        </a:rPr>
                        <a:t>i</a:t>
                      </a:r>
                      <a:r>
                        <a:rPr lang="pt-BR">
                          <a:effectLst/>
                        </a:rPr>
                        <a:t> := 2 até </a:t>
                      </a:r>
                      <a:r>
                        <a:rPr lang="pt-BR" i="1">
                          <a:effectLst/>
                        </a:rPr>
                        <a:t>n</a:t>
                      </a:r>
                      <a:endParaRPr lang="pt-BR">
                        <a:effectLst/>
                      </a:endParaRPr>
                    </a:p>
                  </a:txBody>
                  <a:tcPr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6333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b">
                        <a:buNone/>
                      </a:pPr>
                      <a:r>
                        <a:rPr lang="pt-BR" b="1">
                          <a:effectLst/>
                        </a:rPr>
                        <a:t>4</a:t>
                      </a:r>
                      <a:r>
                        <a:rPr lang="pt-BR">
                          <a:effectLst/>
                        </a:rPr>
                        <a:t>  </a:t>
                      </a:r>
                      <a:r>
                        <a:rPr lang="pt-BR" i="1">
                          <a:effectLst/>
                        </a:rPr>
                        <a:t>f</a:t>
                      </a:r>
                      <a:r>
                        <a:rPr lang="pt-BR">
                          <a:effectLst/>
                        </a:rPr>
                        <a:t> [</a:t>
                      </a:r>
                      <a:r>
                        <a:rPr lang="pt-BR" i="1">
                          <a:effectLst/>
                        </a:rPr>
                        <a:t>i</a:t>
                      </a:r>
                      <a:r>
                        <a:rPr lang="pt-BR">
                          <a:effectLst/>
                        </a:rPr>
                        <a:t>] := </a:t>
                      </a:r>
                      <a:r>
                        <a:rPr lang="pt-BR" i="1">
                          <a:effectLst/>
                        </a:rPr>
                        <a:t>f</a:t>
                      </a:r>
                      <a:r>
                        <a:rPr lang="pt-BR">
                          <a:effectLst/>
                        </a:rPr>
                        <a:t> [</a:t>
                      </a:r>
                      <a:r>
                        <a:rPr lang="pt-BR" i="1">
                          <a:effectLst/>
                        </a:rPr>
                        <a:t>i</a:t>
                      </a:r>
                      <a:r>
                        <a:rPr lang="pt-BR">
                          <a:effectLst/>
                        </a:rPr>
                        <a:t> − 1] + </a:t>
                      </a:r>
                      <a:r>
                        <a:rPr lang="pt-BR" i="1">
                          <a:effectLst/>
                        </a:rPr>
                        <a:t>f</a:t>
                      </a:r>
                      <a:r>
                        <a:rPr lang="pt-BR">
                          <a:effectLst/>
                        </a:rPr>
                        <a:t> [</a:t>
                      </a:r>
                      <a:r>
                        <a:rPr lang="pt-BR" i="1">
                          <a:effectLst/>
                        </a:rPr>
                        <a:t>i</a:t>
                      </a:r>
                      <a:r>
                        <a:rPr lang="pt-BR">
                          <a:effectLst/>
                        </a:rPr>
                        <a:t> − 2]</a:t>
                      </a:r>
                    </a:p>
                  </a:txBody>
                  <a:tcPr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751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b">
                        <a:buNone/>
                      </a:pPr>
                      <a:r>
                        <a:rPr lang="pt-BR" b="1">
                          <a:effectLst/>
                        </a:rPr>
                        <a:t>5</a:t>
                      </a:r>
                      <a:r>
                        <a:rPr lang="pt-BR">
                          <a:effectLst/>
                        </a:rPr>
                        <a:t>  devolva </a:t>
                      </a:r>
                      <a:r>
                        <a:rPr lang="pt-BR" i="1">
                          <a:effectLst/>
                        </a:rPr>
                        <a:t>f</a:t>
                      </a:r>
                      <a:r>
                        <a:rPr lang="pt-BR">
                          <a:effectLst/>
                        </a:rPr>
                        <a:t>[</a:t>
                      </a:r>
                      <a:r>
                        <a:rPr lang="pt-BR" i="1">
                          <a:effectLst/>
                        </a:rPr>
                        <a:t>n</a:t>
                      </a:r>
                      <a:r>
                        <a:rPr lang="pt-BR">
                          <a:effectLst/>
                        </a:rPr>
                        <a:t>]</a:t>
                      </a:r>
                    </a:p>
                    <a:p>
                      <a:pPr lvl="0">
                        <a:buNone/>
                      </a:pPr>
                      <a:r>
                        <a:rPr lang="pt-BR">
                          <a:effectLst/>
                        </a:rPr>
                        <a:t>}</a:t>
                      </a:r>
                    </a:p>
                  </a:txBody>
                  <a:tcPr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44448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277197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Espaço Reservado para Conteúdo 3" descr="Esquemático&#10;&#10;O conteúdo gerado por IA pode estar incorreto.">
            <a:extLst>
              <a:ext uri="{FF2B5EF4-FFF2-40B4-BE49-F238E27FC236}">
                <a16:creationId xmlns:a16="http://schemas.microsoft.com/office/drawing/2014/main" id="{5E9CF69F-E977-9925-0F14-60F85A75433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42709" y="2045494"/>
            <a:ext cx="6117166" cy="4309532"/>
          </a:xfrm>
          <a:prstGeom prst="rect">
            <a:avLst/>
          </a:prstGeom>
        </p:spPr>
      </p:pic>
      <p:sp>
        <p:nvSpPr>
          <p:cNvPr id="3" name="Título 1">
            <a:extLst>
              <a:ext uri="{FF2B5EF4-FFF2-40B4-BE49-F238E27FC236}">
                <a16:creationId xmlns:a16="http://schemas.microsoft.com/office/drawing/2014/main" id="{6ADD3A6E-DFCB-D7EF-09D1-F73DA23A53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0" y="842963"/>
            <a:ext cx="9601200" cy="1309687"/>
          </a:xfrm>
        </p:spPr>
        <p:txBody>
          <a:bodyPr/>
          <a:lstStyle/>
          <a:p>
            <a:r>
              <a:rPr lang="pt-BR"/>
              <a:t>Programação dinâmica - Exemplo: </a:t>
            </a:r>
          </a:p>
        </p:txBody>
      </p:sp>
    </p:spTree>
    <p:extLst>
      <p:ext uri="{BB962C8B-B14F-4D97-AF65-F5344CB8AC3E}">
        <p14:creationId xmlns:p14="http://schemas.microsoft.com/office/powerpoint/2010/main" val="25404987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A1171D7-3CAC-E42E-26A6-5C0521F8E1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0" y="2777271"/>
            <a:ext cx="9601200" cy="1309687"/>
          </a:xfrm>
        </p:spPr>
        <p:txBody>
          <a:bodyPr/>
          <a:lstStyle/>
          <a:p>
            <a:pPr algn="ctr"/>
            <a:r>
              <a:rPr lang="pt-BR"/>
              <a:t>OBRIGADO A TODOS PELA ATENÇÃO!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35662F0-3CC7-A548-E6E1-6124986686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endParaRPr lang="pt-BR"/>
          </a:p>
          <a:p>
            <a:pPr marL="0" indent="0" algn="ctr">
              <a:buNone/>
            </a:pPr>
            <a:endParaRPr lang="pt-BR" sz="9600" b="1"/>
          </a:p>
        </p:txBody>
      </p:sp>
    </p:spTree>
    <p:extLst>
      <p:ext uri="{BB962C8B-B14F-4D97-AF65-F5344CB8AC3E}">
        <p14:creationId xmlns:p14="http://schemas.microsoft.com/office/powerpoint/2010/main" val="15236214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CED9F3-F8D2-9A0B-D5CB-873F7D07E1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7777" y="124095"/>
            <a:ext cx="9601200" cy="1309687"/>
          </a:xfrm>
        </p:spPr>
        <p:txBody>
          <a:bodyPr/>
          <a:lstStyle/>
          <a:p>
            <a:r>
              <a:rPr lang="en-US"/>
              <a:t>Bibliografia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86F9AA-F9B2-8354-8859-3D8E1AD457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7778" y="1327659"/>
            <a:ext cx="11096444" cy="4980406"/>
          </a:xfrm>
        </p:spPr>
        <p:txBody>
          <a:bodyPr vert="horz" lIns="91440" tIns="45720" rIns="91440" bIns="45720" rtlCol="0" anchor="t">
            <a:normAutofit fontScale="85000" lnSpcReduction="20000"/>
          </a:bodyPr>
          <a:lstStyle/>
          <a:p>
            <a:r>
              <a:rPr lang="en-US"/>
              <a:t>Imagem da </a:t>
            </a:r>
            <a:r>
              <a:rPr lang="en-US" err="1"/>
              <a:t>capa</a:t>
            </a:r>
            <a:r>
              <a:rPr lang="en-US"/>
              <a:t>: </a:t>
            </a:r>
            <a:r>
              <a:rPr lang="en-US" err="1"/>
              <a:t>gerada</a:t>
            </a:r>
            <a:r>
              <a:rPr lang="en-US"/>
              <a:t> </a:t>
            </a:r>
            <a:r>
              <a:rPr lang="en-US" err="1"/>
              <a:t>por</a:t>
            </a:r>
            <a:r>
              <a:rPr lang="en-US"/>
              <a:t> IA (Gemini).</a:t>
            </a:r>
          </a:p>
          <a:p>
            <a:r>
              <a:rPr lang="en-US">
                <a:ea typeface="+mn-lt"/>
                <a:cs typeface="+mn-lt"/>
                <a:hlinkClick r:id="rId2"/>
              </a:rPr>
              <a:t>https://www.bcc.unifal-mg.edu.br/~humberto/disciplinas/2011_1_paa/aulas/aula13_ProjetoDeAlgoritmos_Tentativa_Erro_parte1.pdf</a:t>
            </a:r>
            <a:endParaRPr lang="en-US">
              <a:ea typeface="+mn-lt"/>
              <a:cs typeface="+mn-lt"/>
            </a:endParaRPr>
          </a:p>
          <a:p>
            <a:r>
              <a:rPr lang="en-US">
                <a:ea typeface="+mn-lt"/>
                <a:cs typeface="+mn-lt"/>
                <a:hlinkClick r:id="rId3"/>
              </a:rPr>
              <a:t>https://medium.com/@andreaiacono/backtracking-explained-7450d6ef9e1a</a:t>
            </a:r>
            <a:endParaRPr lang="en-US">
              <a:ea typeface="+mn-lt"/>
              <a:cs typeface="+mn-lt"/>
            </a:endParaRPr>
          </a:p>
          <a:p>
            <a:r>
              <a:rPr lang="en-US">
                <a:ea typeface="+mn-lt"/>
                <a:cs typeface="+mn-lt"/>
                <a:hlinkClick r:id="rId4"/>
              </a:rPr>
              <a:t>https://www.each.usp.br/digiampietri/SIN5013/12-tentativaEErro.pdf</a:t>
            </a:r>
          </a:p>
          <a:p>
            <a:r>
              <a:rPr lang="pt-BR">
                <a:hlinkClick r:id="rId5"/>
              </a:rPr>
              <a:t>https://www.ime.usp.br/~pf/analise_de_algoritmos/aulas/guloso.html</a:t>
            </a:r>
            <a:endParaRPr lang="pt-BR"/>
          </a:p>
          <a:p>
            <a:r>
              <a:rPr lang="pt-BR">
                <a:hlinkClick r:id="rId6"/>
              </a:rPr>
              <a:t>https://pt.stackoverflow.com/questions/103681/o-que-%C3%A9-um-algoritmo-guloso</a:t>
            </a:r>
            <a:endParaRPr lang="en-US"/>
          </a:p>
          <a:p>
            <a:r>
              <a:rPr lang="en-US">
                <a:hlinkClick r:id="rId7"/>
              </a:rPr>
              <a:t>http://profs.ic.uff.br/~lfignacio/asa/Aula_20_2023_2.pdf</a:t>
            </a:r>
            <a:endParaRPr lang="pt-BR"/>
          </a:p>
          <a:p>
            <a:r>
              <a:rPr lang="pt-BR">
                <a:hlinkClick r:id="rId8"/>
              </a:rPr>
              <a:t>https://pt.khanacademy.org/computing/computer-science/algorithms/merge-sort/a/divide-and-conquer-algorithms</a:t>
            </a:r>
            <a:endParaRPr lang="en-US"/>
          </a:p>
          <a:p>
            <a:r>
              <a:rPr lang="pt-BR" sz="1900">
                <a:hlinkClick r:id="rId9"/>
              </a:rPr>
              <a:t>https://cp-algorithms.com/dynamic_programming/intro-to-dp.html</a:t>
            </a:r>
            <a:endParaRPr lang="pt-BR" sz="1900"/>
          </a:p>
          <a:p>
            <a:r>
              <a:rPr lang="pt-BR" sz="1900">
                <a:hlinkClick r:id="rId10"/>
              </a:rPr>
              <a:t>https://www.ime.usp.br/~pf/analise_de_algoritmos/aulas/dynamic-programming.html</a:t>
            </a:r>
            <a:endParaRPr lang="pt-BR"/>
          </a:p>
          <a:p>
            <a:r>
              <a:rPr lang="pt-BR" sz="1900">
                <a:ea typeface="+mn-lt"/>
                <a:cs typeface="+mn-lt"/>
                <a:hlinkClick r:id="rId11"/>
              </a:rPr>
              <a:t>https://daniloeler.github.io/teaching/PAA2020/files/PAA-Aula09-DivisaoConquista.pdf</a:t>
            </a:r>
          </a:p>
          <a:p>
            <a:r>
              <a:rPr lang="pt-BR" sz="1900">
                <a:ea typeface="+mn-lt"/>
                <a:cs typeface="+mn-lt"/>
                <a:hlinkClick r:id="rId12"/>
              </a:rPr>
              <a:t>https://youtu.be/wx5juM9bbFo?si=wJ-R9cyrhmBxB-cT</a:t>
            </a:r>
            <a:endParaRPr lang="pt-BR" sz="1900"/>
          </a:p>
          <a:p>
            <a:r>
              <a:rPr lang="pt-BR" sz="1900">
                <a:ea typeface="+mn-lt"/>
                <a:cs typeface="+mn-lt"/>
                <a:hlinkClick r:id="rId13"/>
              </a:rPr>
              <a:t>https://ic.unicamp.br/~rocha/msc/complex/algoritmosGulososFinal.pdf</a:t>
            </a:r>
            <a:endParaRPr lang="pt-BR" sz="1900"/>
          </a:p>
          <a:p>
            <a:pPr marL="0" indent="0">
              <a:buNone/>
            </a:pPr>
            <a:endParaRPr lang="pt-BR" sz="1900"/>
          </a:p>
          <a:p>
            <a:endParaRPr lang="pt-BR" sz="1900"/>
          </a:p>
          <a:p>
            <a:endParaRPr lang="pt-BR" sz="1900"/>
          </a:p>
          <a:p>
            <a:endParaRPr lang="pt-BR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87314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PoiseVTI">
  <a:themeElements>
    <a:clrScheme name="Poise">
      <a:dk1>
        <a:sysClr val="windowText" lastClr="000000"/>
      </a:dk1>
      <a:lt1>
        <a:sysClr val="window" lastClr="FFFFFF"/>
      </a:lt1>
      <a:dk2>
        <a:srgbClr val="403739"/>
      </a:dk2>
      <a:lt2>
        <a:srgbClr val="F4E9E6"/>
      </a:lt2>
      <a:accent1>
        <a:srgbClr val="B18083"/>
      </a:accent1>
      <a:accent2>
        <a:srgbClr val="C17A69"/>
      </a:accent2>
      <a:accent3>
        <a:srgbClr val="CE9573"/>
      </a:accent3>
      <a:accent4>
        <a:srgbClr val="82907A"/>
      </a:accent4>
      <a:accent5>
        <a:srgbClr val="9A9966"/>
      </a:accent5>
      <a:accent6>
        <a:srgbClr val="AB9955"/>
      </a:accent6>
      <a:hlink>
        <a:srgbClr val="A97979"/>
      </a:hlink>
      <a:folHlink>
        <a:srgbClr val="BB7563"/>
      </a:folHlink>
    </a:clrScheme>
    <a:fontScheme name="Goudy Univers">
      <a:majorFont>
        <a:latin typeface="Goudy Old Style"/>
        <a:ea typeface=""/>
        <a:cs typeface=""/>
      </a:majorFont>
      <a:minorFont>
        <a:latin typeface="Univer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oiseVTI" id="{9843863B-6720-4231-BFE7-E604B355382A}" vid="{6C5B2780-C73E-445D-98DA-9D2BCD78971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21</Slides>
  <Notes>0</Notes>
  <HiddenSlides>0</HiddenSlide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21</vt:i4>
      </vt:variant>
    </vt:vector>
  </HeadingPairs>
  <TitlesOfParts>
    <vt:vector size="22" baseType="lpstr">
      <vt:lpstr>PoiseVTI</vt:lpstr>
      <vt:lpstr>Algoritmos Gulosos Algoritmos Aproximativos Tentativa e Erro Divisão e Conquista Programação Dinâmica</vt:lpstr>
      <vt:lpstr>Introdução</vt:lpstr>
      <vt:lpstr>Algoritmos gulosos</vt:lpstr>
      <vt:lpstr>Algoritmos gulosos – exemplo: sistema de troco</vt:lpstr>
      <vt:lpstr>Algoritmos gulosos – exemplo: sistema de troco (mal estruturado)</vt:lpstr>
      <vt:lpstr>Algoritmos aproximativos</vt:lpstr>
      <vt:lpstr>Algoritmos aproximativos – Exemplo: O Caixeiro Vijante</vt:lpstr>
      <vt:lpstr>Apresentação do PowerPoint</vt:lpstr>
      <vt:lpstr>Apresentação do PowerPoint</vt:lpstr>
      <vt:lpstr>Tentativa e Erro</vt:lpstr>
      <vt:lpstr>Tentativa e Erro – Exemplo: Labirinto</vt:lpstr>
      <vt:lpstr>Tentativa e Erro</vt:lpstr>
      <vt:lpstr>Divisão e conquista </vt:lpstr>
      <vt:lpstr>Divisão e conquista – exemplo: QuickSORt</vt:lpstr>
      <vt:lpstr>Divisão e conquista – exemplo: QuickSORt</vt:lpstr>
      <vt:lpstr>Divisão e conquista – exemplo: QuickSORt</vt:lpstr>
      <vt:lpstr>Programação dinâmica </vt:lpstr>
      <vt:lpstr>Programação dinâmica - Exemplo: </vt:lpstr>
      <vt:lpstr>Programação dinâmica - Exemplo: </vt:lpstr>
      <vt:lpstr>OBRIGADO A TODOS PELA ATENÇÃO!</vt:lpstr>
      <vt:lpstr>Bibliografia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29</cp:revision>
  <dcterms:created xsi:type="dcterms:W3CDTF">2026-04-27T21:57:23Z</dcterms:created>
  <dcterms:modified xsi:type="dcterms:W3CDTF">2026-06-28T22:32:28Z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9f9c0dd6-8c65-43d6-9995-fff3709d7310_Enabled">
    <vt:lpwstr>true</vt:lpwstr>
  </property>
  <property fmtid="{D5CDD505-2E9C-101B-9397-08002B2CF9AE}" pid="3" name="MSIP_Label_9f9c0dd6-8c65-43d6-9995-fff3709d7310_SetDate">
    <vt:lpwstr>2026-04-27T21:57:33Z</vt:lpwstr>
  </property>
  <property fmtid="{D5CDD505-2E9C-101B-9397-08002B2CF9AE}" pid="4" name="MSIP_Label_9f9c0dd6-8c65-43d6-9995-fff3709d7310_Method">
    <vt:lpwstr>Standard</vt:lpwstr>
  </property>
  <property fmtid="{D5CDD505-2E9C-101B-9397-08002B2CF9AE}" pid="5" name="MSIP_Label_9f9c0dd6-8c65-43d6-9995-fff3709d7310_Name">
    <vt:lpwstr>defa4170-0d19-0005-0000-bc88714345d2</vt:lpwstr>
  </property>
  <property fmtid="{D5CDD505-2E9C-101B-9397-08002B2CF9AE}" pid="6" name="MSIP_Label_9f9c0dd6-8c65-43d6-9995-fff3709d7310_SiteId">
    <vt:lpwstr>0c2d222a-ecda-4b70-960a-acef6ced3052</vt:lpwstr>
  </property>
  <property fmtid="{D5CDD505-2E9C-101B-9397-08002B2CF9AE}" pid="7" name="MSIP_Label_9f9c0dd6-8c65-43d6-9995-fff3709d7310_ActionId">
    <vt:lpwstr>e6dda102-a016-4f43-ae54-4c8300014a10</vt:lpwstr>
  </property>
  <property fmtid="{D5CDD505-2E9C-101B-9397-08002B2CF9AE}" pid="8" name="MSIP_Label_9f9c0dd6-8c65-43d6-9995-fff3709d7310_ContentBits">
    <vt:lpwstr>0</vt:lpwstr>
  </property>
  <property fmtid="{D5CDD505-2E9C-101B-9397-08002B2CF9AE}" pid="9" name="MSIP_Label_9f9c0dd6-8c65-43d6-9995-fff3709d7310_Tag">
    <vt:lpwstr>10, 3, 0, 2</vt:lpwstr>
  </property>
</Properties>
</file>